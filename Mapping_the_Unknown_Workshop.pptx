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21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learners. Introduce yourself briefly. State the two-hour arc up front: we move from a research question, through open data and GIS, to a designed research map. Say the two guiding lines out loud: 'Don't start with a map. Start with a question.' and 'GIS is not only for making maps — it's a way to think spatially.' 開場：簡短自我介紹，說明兩小時的整體路徑——從研究問題出發，經開放資料與 GIS，最後產出一張研究地圖。唸出兩句核心理念：「不要從地圖開始，從問題開始」與「GIS 不只是用來畫地圖，而是一種空間思考方式」。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 GIS tutorials start with software. This workshop starts with a research question, and only reaches for GIS or code when the question demands it. Walk through the chain on screen left to right — this is the spine of the entire two hours; refer back to it at each module transition. 多數 GIS 教學從軟體操作開始，本工作坊從研究問題出發，只有當問題需要時才引入 GIS 與程式。這條鏈是整場工作坊的骨幹，之後每個模組轉換時都可以回頭指這張圖。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agenda aloud once so learners can see the whole arc. Mention that modules 01-03 are conceptual (no software yet), 04-05 are hands-on (QGIS then Colab), 06-07 turn results into communication, and 08 is the graded deliverable. Point out this slide's structure repeats as a divider before every module, so learners always know where they are in the workshop. 唸過一次議程讓學員看見整體路徑。模組 01-03 是概念性、尚未動手；04-05 動手操作（先 QGIS 後 Colab）；06-07 把結果轉化為溝通；08 為最終評量產出。之後每個模組前都會有相同格式的分隔頁，讓學員隨時知道進度。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Reassure the room: nobody needs prior GIS or coding experience. Every technical concept in this deck is anchored to something architects already reason about intuitively — site reading, figure-ground, diagramming. This lowers anxiety before QGIS and Colab show up in modules 04-05. 安撫學員：不需要先備 GIS 或程式經驗。每個技術概念都會對應到建築人早已熟悉的直覺——基地閱讀、圖底關係、圖表化。這能降低模組 04-05 出現 QGIS 與 Colab 時的焦慮感。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question 'what do you think GIS is?' and take two or three answers — most will say 'mapping software.' Use that to set up the central reframe of the whole workshop. 以「你們覺得 GIS 是什麼？」開場，收兩三個回答——多數人會說「製圖軟體」。用這個回答帶出整場工作坊的核心翻轉。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reframe hard: GIS ≠ map making. Making a map is an output; GIS the discipline is about the reasoning beforehand — what varies across space, why, and what it means. This single sentence is the thesis statement for the entire two hours. 強力強調這個翻轉：GIS 不等於製圖。製圖只是產出，GIS 這門學科關注的是產出之前的推理——什麼東西在空間中變化、為什麼變化、代表什麼意義。這句話是整場工作坊的核心論點。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 this on the architecture analogy: reading a site for sun path, pedestrian desire lines, and noise sources is already spatial thinking. GIS just formalizes that intuition into data you can measure, compare, and communicate — it's not a new skill, it's a new vocabulary for an old skill. 落在建築類比上：解讀基地的陽光、人行動線、噪音來源，本身就是空間思考。GIS 只是把這種直覺形式化為可測量、可比較、可傳達的資料——不是新技能，是舊技能的新詞彙。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line: 'Spatial reality is continuous; data is not.' This module is about what gets lost and gained when we encode architectural space as data. Keep the pace brisk — it's mostly vocabulary the room needs before QGIS. 過渡句：「真實空間是連續的，資料卻不是。」本模組談論把建築空間編碼為資料時，失去與獲得了什麼。步調保持明快——這主要是進入 QGIS 前需要的詞彙。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 the line clearly: vector for discrete objects (buildings, roads, parcels), raster for continuous phenomena (temperature, elevation, land cover). Ask the room: is a park boundary vector or raster? (vector — it's a discrete polygon). Is a heat map of the city raster or vector? (raster). 清楚劃分：向量適合離散物件（建築、道路、地籍），網格適合連續現象（溫度、高程、地表覆蓋）。問學員：公園邊界是向量還是網格？（向量——離散多邊形）。城市熱力圖是網格還是向量？（網格）。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attribute-table example verbally: a building footprint polygon carrying id, height_m, year_built, use. Land the key line: geometry answers 'where,' attributes answer 'what.' Both are needed to answer a research question — geometry alone or attributes alone are not enough. Point at the diagram panel on the right while naming each geometry type. 口頭示範屬性表範例：建築足跡多邊形帶有 id、height_m、year_built、use 等欄位。點出關鍵句：幾何回答「在哪裡」，屬性回答「是什麼」。兩者缺一不可才能回答研究問題。唸到每種幾何類型時，可指向右側簡圖對應說明。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common beginner error, and it will resurface in Module 04 (QGIS) as step 3. Plant the seed now: mismatched CRS is why two correct datasets can look wrong together. You don't need to explain projections in depth — just that CRS is a handshake that must match. 這是初學者最常見的錯誤，會在模組 04（QGIS）第 3 步再次出現。現在先埋下伏筆：CRS 不一致會讓兩份正確的資料疊在一起卻對不上。不需深入講解投影法，只需說明 CRS 是必須一致的「握手協議」。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behavioral rule for this module: never let students browse a data portal aimlessly. Everything here works backwards from a question, through required variables, to a dataset. 本模組的關鍵行為準則：絕不讓學員漫無目的瀏覽資料平台。一切都從問題出發，推導所需變數，再找到資料集。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example live: question = 'where are the greener public spaces?'; required variables = tree locations and public space boundaries; potential dataset = street tree inventory and park/plaza polygons; source = city open data portal or OSM; final spatial dataset = trees.geojson + public_spaces.geojson. This exact example returns in Module 08's One Map Challenge. 現場走過範例：問題＝「哪裡是較綠意盎然的公共空間？」；所需變數＝樹木位置與公共空間邊界；可能資料集＝行道樹清冊與公園／廣場面資料；來源＝城市開放資料平台或 OSM；最終空間資料集＝trees.geojson＋public_spaces.geojson。這個範例會在模組 08 一張地圖挑戰再次出現。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osmnx as the Python bridge to OSM (used in Module 05). Keep this slide as an index, not a deep dive — the full reference list lives in resources/open-data/ for learners to revisit later. Note in passing that real Taiwan data sources (data.taipei, Open-Meteo, CWA opendata) power the optional case studies referenced after Module 05. 提及 osmnx 作為存取 OSM 的 Python 工具（模組 05 會用到）。這頁只是索引，不深入——完整參考清單在 resources/open-data/ 供學員之後查閱。順帶提及真實台灣資料來源（data.taipei、Open-Meteo、中央氣象署開放資料）會用於模組 05 之後的延伸案例研究。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Hands-on begins here. State the module's guiding rule up front: every operation follows Tool → Spatial Meaning → Research Question. Never let a click stand without its 'why.' 動手操作從這裡開始。先講清楚本模組的準則：每個操作都遵循 工具 → 空間意義 → 研究問題。絕不讓一次點擊沒有「為什麼」。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where the CRS warning from Module 02 pays off — call back to it explicitly: 'remember the handshake rule from ten minutes ago? Here's where it bites you if you skip it.' Loading data is the moment a research question first meets actual geometry. 這裡正是模組 02 CRS 提醒的回收點——明確呼應：「還記得十分鐘前的握手規則嗎？如果跳過它，這裡就會出問題。」載入資料是研究問題首次與實際幾何相遇的時刻。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canonical example aloud for Buffer: 'We create a 10 m buffer because we want to ask which buildings are located within 10 m of vegetation.' Never present a tool without its research-question framing — that is the pedagogical rule for this entire repository. 唸出緩衝區的經典範例：「我們建立 10 公尺緩衝區，是因為想知道哪些建築位於植栽 10 公尺範圍內。」絕不在沒有研究問題框架的情況下介紹工具——這是整個教材的教學準則。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module with this table as a memory anchor — it's more durable than menu screenshots. Bridge to Module 05: 'Now do these exact same four operations in code, at scale, reproducibly.' 以這張對照表為記憶錨點作結——比選單截圖更持久。銜接模組 05：「接下來用程式碼、規模化、可重現的方式，執行完全相同的四個操作。」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expectations: this is not a programming course. The code is beginner-friendly and runs entirely in the browser via Colab — nobody installs anything locally. 先設定期望：這不是一門程式設計課。程式碼對初學者友善，完全透過瀏覽器上的 Colab 執行——沒有人需要在本機安裝任何東西。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Colab as QGIS's complement, not its replacement. QGIS builds intuition by seeing; Colab scales that same reasoning into something reproducible — rerun the whole analysis on new data in seconds instead of re-clicking through a GUI. 把 Colab 定位為 QGIS 的互補，而非取代。QGIS 透過「看見」建立直覺；Colab 把同樣的推理規模化為可重現的流程——在新資料上重跑整個分析只需幾秒，不必在圖形介面裡重新點擊一次。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live if possible: open notebooks/01_open_data.ipynb via its Colab badge and run the first two cells so the room sees the install-and-load pattern once. If short on time, screenshot instead — the goal is just to demystify what 'running a notebook' looks like. 若時間允許，現場示範：透過 Colab 徽章開啟 notebooks/01_open_data.ipynb，執行前兩個儲存格，讓學員看一次安裝與載入的流程。時間不夠可改用截圖——目的只是讓「執行筆記本」不再神秘。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optional, self-paced extensions living in case-studies/ — point learners there for homework or their final project, but do not attempt to run them live unless time is generous, since Case Study 02's advanced path needs a free API key. Case Study 01 needs no registration at all and is the safest live-demo choice. 這些是選用的自學延伸內容，位於 case-studies/ ——可指引學員作為課後作業或期末專案的起點，但除非時間充裕，否則不建議現場執行，因為案例二的進階路徑需要免費 API 金鑰。案例一完全無需註冊，是最安全的現場示範選項。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Pace shift: close the laptops here if possible. This module is about interpretation, not tools — it works better as discussion than demonstration. 節奏轉換：這裡可以請學員先闔上筆電。本模組談的是詮釋而非工具——用討論比示範更有效。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plainly: a computed result is not an insight. This module is the bridge between running an analysis and actually learning something from it. Introduce the four-question funnel before showing the worked example on the next slide. 直接點明：運算結果本身不是洞見。本模組是「完成分析」與「真正學到東西」之間的橋樑。先介紹四個問題的漏斗架構，再進入下一張的範例。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this exact example live: 'the tree-poor spaces cluster in the older, denser district' (Where), 'that district was built before street-tree planting requirements existed' (Why — flag as hypothesis, not fact). Close with: the map is evidence for an argument, not the conclusion itself. 現場走過這個範例：「缺乏樹木的空間集中於較舊、密度較高的區域」（在哪裡），「該區域是在行道樹種植規範出現之前建成的」（為什麼——標明這是假設，非事實）。以此作結：地圖是論證的證據，而不是結論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longest module and the one architecture graduates usually enjoy most — it's their home turf. Move briskly through terms they already know (hierarchy, figure-ground, composition) and slow down on color encoding, which is usually new. 這是最長的模組，也通常是建築系畢業生最享受的部分——這是他們的主場。熟悉的詞彙（層級、圖底、構圖）可以講快一點，色彩編碼通常是新概念，要放慢。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Nolli map reference lands well with architecture graduates — most will recognize it. Use it as the anchor image: figure-ground was never a foreign GIS concept, it's their own discipline's tool pointed at a new kind of drawing. Nolli 地圖的類比對建築系畢業生特別有效——多數人會認得。用它作為錨點意象：圖底關係從來不是外來的 GIS 概念，而是他們自己學科的工具，指向一種新的圖面。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Quiz the room quickly: 'land use type — sequential, diverging, or categorical?' (categorical — no inherent order). 'Temperature deviation from the city average?' (diverging — zero is meaningful). Picking the wrong family is the most common map-design mistake in the One Map Challenge submissions. 快速考學員：「土地利用類型——連續、發散還是類別型？」（類別型——沒有固有順序）。「與城市平均溫差？」（發散型——零這個中點有意義）。選錯色彩類型是一張地圖挑戰作業中最常見的錯誤。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recommended layout diagram from the README if you have it on hand (title block, main map, legend paired with a key-insight callout, footer strip with source/scale/north/author). A4 landscape or 16:9. This exact layout is what the One Map Challenge rubric checks against next. 若手邊有 README 的建議版面圖可以展示（標題區、主地圖、圖例與關鍵洞見並列、含來源／比例尺／指北針／作者的頁尾）。A4 橫向或 16:9。這正是接下來一張地圖挑戰評分標準比對的版面。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checklist (resources/map-design/research-map-checklist.md) is the actual grading instrument for the One Map Challenge — tell learners explicitly that this slide is their rubric. Suggest they run their own map through it before calling it done. 這份檢查清單（resources/map-design/research-map-checklist.md）就是一張地圖挑戰實際的評分依據——明確告訴學員這張投影片就是他們的評分標準。建議他們完成地圖後親自跑過一次檢查清單。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deliverable. Keep this section fast and concrete — learners should leave knowing exactly what to produce and where to find help. 這是最終產出。這部分要快而具體——學員離開時應該清楚知道要產出什麼、去哪裡找協助。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loop: this is the exact example first introduced in Module 03. Learners can either reuse it directly, or apply the same four-part structure to their own question. Point again to case-studies/01-green-coverage-grid/ as the recommended real-data starting point, and to the checklist from the previous module as the grading rubric. 收尾呼應：這正是模組 03 一開始介紹的範例。學員可以直接沿用，也可以把同樣的四段式結構套用到自己的問題上。再次指向 case-studies/01-green-coverage-grid/ 作為建議的真實資料起點，以及上一模組的檢查清單作為評分依據。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the closing recap before the final slide — it compresses the whole two hours into one diagram. Ask the room to repeat the three verbs back: see, compute, explain. 作為最後投影片前的收尾回顧——這張圖把整整兩小時濃縮成一張圖。請學員複誦這三個動詞：看見、運算、解釋。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final quote aloud as the target outcome for every learner in the room. Open the floor for questions. If time remains, walk to a laptop and let one volunteer try loading their own question into the Module 03 logic chain live. 把最後這句話唸出來，作為每位學員應達成的目標。開放提問。若還有時間，可以走到電腦前，讓一位自願學員現場把自己的問題套進模組 03 的邏輯鏈試試看。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dirty="0">
                <a:solidFill>
                  <a:srgbClr val="FFFFFF"/>
                </a:solidFill>
              </a:rPr>
              <a:t>Mapping the Unknown</a:t>
            </a:r>
          </a:p>
          <a:p>
            <a:r>
              <a:rPr sz="2400" dirty="0">
                <a:solidFill>
                  <a:srgbClr val="2E7D5B"/>
                </a:solidFill>
              </a:rPr>
              <a:t>GIS, Open Data &amp; Spatial Analysis</a:t>
            </a:r>
          </a:p>
          <a:p>
            <a:r>
              <a:rPr sz="2000" dirty="0" err="1">
                <a:solidFill>
                  <a:srgbClr val="C9D3E0"/>
                </a:solidFill>
              </a:rPr>
              <a:t>探索未知空間：GIS、開放資料與空間分析</a:t>
            </a:r>
            <a:endParaRPr sz="2000" dirty="0">
              <a:solidFill>
                <a:srgbClr val="C9D3E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國立陽明交通大學 建築研究所 資訊建築學研究室 碩士數位組 王誠安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MSc Cheng-An Wang, GIAAIL @NYCU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Project Mission · 專案宗旨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Why This Workshop Exists</a:t>
            </a:r>
          </a:p>
          <a:p>
            <a:r>
              <a:rPr sz="1600">
                <a:solidFill>
                  <a:srgbClr val="6B6B6B"/>
                </a:solidFill>
              </a:rPr>
              <a:t>為什麼有這個工作坊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Don't start with a map. Start with a question.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不要從地圖開始，從問題開始。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GIS is not only for making maps — it is a way to think spatially.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GIS 不只是用來畫地圖，而是一種空間思考方式。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Research Question → Open Data → GIS Exploration → Computational Analysis → Insight → Research Map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研究問題 → 開放資料 → GIS 探索 → 運算分析 → 洞見 → 研究地圖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Agenda · 議程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Workshop Schedule</a:t>
            </a:r>
          </a:p>
          <a:p>
            <a:r>
              <a:rPr sz="1600">
                <a:solidFill>
                  <a:srgbClr val="6B6B6B"/>
                </a:solidFill>
              </a:rPr>
              <a:t>工作坊課程時程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3492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01   Mapping the Unknown</a:t>
            </a:r>
          </a:p>
          <a:p>
            <a:r>
              <a:rPr sz="1300" i="1">
                <a:solidFill>
                  <a:srgbClr val="6B6B6B"/>
                </a:solidFill>
              </a:rPr>
              <a:t>       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45535"/>
            <a:ext cx="53492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02   From Space to Data</a:t>
            </a:r>
          </a:p>
          <a:p>
            <a:r>
              <a:rPr sz="1300" i="1">
                <a:solidFill>
                  <a:srgbClr val="6B6B6B"/>
                </a:solidFill>
              </a:rPr>
              <a:t>        從空間到資料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87950"/>
            <a:ext cx="53492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03   Finding Open Geospatial Data</a:t>
            </a:r>
          </a:p>
          <a:p>
            <a:r>
              <a:rPr sz="1300" i="1">
                <a:solidFill>
                  <a:srgbClr val="6B6B6B"/>
                </a:solidFill>
              </a:rPr>
              <a:t>        尋找開放地理資料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30365"/>
            <a:ext cx="53492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04   QGIS Basics</a:t>
            </a:r>
          </a:p>
          <a:p>
            <a:r>
              <a:rPr sz="1300" i="1">
                <a:solidFill>
                  <a:srgbClr val="6B6B6B"/>
                </a:solidFill>
              </a:rPr>
              <a:t>        QGIS 基礎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53492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05   Computational GIS with Google Colab</a:t>
            </a:r>
          </a:p>
          <a:p>
            <a:r>
              <a:rPr sz="1300" i="1">
                <a:solidFill>
                  <a:srgbClr val="6B6B6B"/>
                </a:solidFill>
              </a:rPr>
              <a:t>        使用 Google Colab 的運算式 GIS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145535"/>
            <a:ext cx="53492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06   From Data to Spatial Insight</a:t>
            </a:r>
          </a:p>
          <a:p>
            <a:r>
              <a:rPr sz="1300" i="1">
                <a:solidFill>
                  <a:srgbClr val="6B6B6B"/>
                </a:solidFill>
              </a:rPr>
              <a:t>        從資料到空間洞察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187950"/>
            <a:ext cx="53492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07   Research Map Design</a:t>
            </a:r>
          </a:p>
          <a:p>
            <a:r>
              <a:rPr sz="1300" i="1">
                <a:solidFill>
                  <a:srgbClr val="6B6B6B"/>
                </a:solidFill>
              </a:rPr>
              <a:t>        研究地圖設計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230365"/>
            <a:ext cx="53492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A4A"/>
                </a:solidFill>
              </a:rPr>
              <a:t>08   One Map Challenge</a:t>
            </a:r>
          </a:p>
          <a:p>
            <a:r>
              <a:rPr sz="1300" i="1">
                <a:solidFill>
                  <a:srgbClr val="6B6B6B"/>
                </a:solidFill>
              </a:rPr>
              <a:t>        一張地圖挑戰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Before We Start · 開始之前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Who This Is For</a:t>
            </a:r>
          </a:p>
          <a:p>
            <a:r>
              <a:rPr sz="1600">
                <a:solidFill>
                  <a:srgbClr val="6B6B6B"/>
                </a:solidFill>
              </a:rPr>
              <a:t>適合對象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Architecture graduates &amp; early-stage spatial researchers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建築系畢業生與初階空間研究者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Assumes: basic architectural / spatial literacy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假設具備：基本建築／空間素養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Assumes: NO advanced GIS or Python knowledge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假設不需具備：進階 GIS 或 Python 知識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Taught through architecture, urban space, landscape, public space, environment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透過建築、都市空間、地景、公共空間、環境案例教學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E7D5B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Mapping the Unknown</a:t>
            </a:r>
          </a:p>
          <a:p>
            <a:r>
              <a:rPr sz="2200">
                <a:solidFill>
                  <a:srgbClr val="C9D3E0"/>
                </a:solidFill>
              </a:rPr>
              <a:t>探索未知空間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What is GIS? What is spatial thinking? GIS as a research method.</a:t>
            </a:r>
          </a:p>
          <a:p>
            <a:r>
              <a:rPr sz="1300">
                <a:solidFill>
                  <a:srgbClr val="C9D3E0"/>
                </a:solidFill>
              </a:rPr>
              <a:t>什麼是 GIS？什麼是空間思考？GIS 作為研究方法。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01/8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01 · Mapping the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What Is GIS?</a:t>
            </a:r>
          </a:p>
          <a:p>
            <a:r>
              <a:rPr sz="1600">
                <a:solidFill>
                  <a:srgbClr val="6B6B6B"/>
                </a:solidFill>
              </a:rPr>
              <a:t>什麼是 GIS？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A system for capturing, storing, analyzing, and communicating data that has a location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一套擷取、儲存、分析並傳達具有位置的資料的系統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The software is not the point — what location-aware data lets you ask and answer is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軟體本身不是重點，重點是位置資料能讓你提出並回答什麼問題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GIS ≠ map making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GIS 不等於製圖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Mapping is often the output; GIS is the reasoning that gets you there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製圖經常只是產出；GIS 是抵達產出之前的推理過程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01/8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01 · Mapping the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What Is Spatial Thinking?</a:t>
            </a:r>
          </a:p>
          <a:p>
            <a:r>
              <a:rPr sz="1600">
                <a:solidFill>
                  <a:srgbClr val="6B6B6B"/>
                </a:solidFill>
              </a:rPr>
              <a:t>什麼是空間思考？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Location — where something is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位置——某事物在哪裡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Distribution — how it's spread out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分布——如何散布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Pattern — clustered, even, or random?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樣式——聚集、均勻或隨機？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Relationship — how it relates to nearby things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關係——與鄰近事物的關聯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Architects already do this reading a site: sun, foot traffic, noise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建築人讀基地時早已這樣做：陽光、人流、噪音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01/8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E7D5B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From Space to Data</a:t>
            </a:r>
          </a:p>
          <a:p>
            <a:r>
              <a:rPr sz="2200">
                <a:solidFill>
                  <a:srgbClr val="C9D3E0"/>
                </a:solidFill>
              </a:rPr>
              <a:t>從空間到資料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Vector vs raster, point/line/polygon, attributes, coordinates, CRS.</a:t>
            </a:r>
          </a:p>
          <a:p>
            <a:r>
              <a:rPr sz="1300">
                <a:solidFill>
                  <a:srgbClr val="C9D3E0"/>
                </a:solidFill>
              </a:rPr>
              <a:t>向量與網格、點線面、屬性資料、座標、CRS。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02/8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02 · From Space to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Vector vs. Raster</a:t>
            </a:r>
          </a:p>
          <a:p>
            <a:r>
              <a:rPr sz="1600">
                <a:solidFill>
                  <a:srgbClr val="6B6B6B"/>
                </a:solidFill>
              </a:rPr>
              <a:t>向量與網格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Vector — discrete geometries: points, lines, polygons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向量——離散幾何：點、線、面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Example: a building footprint drawn as a polygon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範例：以多邊形繪製的建築足跡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Raster — a grid of cells/pixels, each with a value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網格——由格網／像元組成，每格皆有數值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Example: a satellite image, a DEM (elevation raster)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範例：衛星影像、DEM（高程網格）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Vector suits discrete objects; raster suits continuous phenomena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向量適合離散物件；網格適合連續現象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02/8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02 · From Space to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Point, Line, Polygon &amp; Attributes</a:t>
            </a:r>
          </a:p>
          <a:p>
            <a:r>
              <a:rPr sz="1600">
                <a:solidFill>
                  <a:srgbClr val="6B6B6B"/>
                </a:solidFill>
              </a:rPr>
              <a:t>點、線、面與屬性資料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Point — a tree, a lamppost, a building entrance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點——一棵樹、一根路燈、一個建築入口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Line — a street centerline, a walking path, a river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線——街道中心線、步行路徑、河流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Polygon — a building footprint, a park boundary, a parcel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面——建築足跡、公園邊界、地籍範圍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Attributes — the non-spatial facts attached to a geometry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屬性——附加於幾何物件上的非空間事實資料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Geometry answers "where"; attributes answer "what"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幾何回答「在哪裡」；屬性回答「是什麼」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2057400"/>
            <a:ext cx="4160520" cy="4160520"/>
          </a:xfrm>
          <a:prstGeom prst="roundRect">
            <a:avLst/>
          </a:prstGeom>
          <a:solidFill>
            <a:srgbClr val="F4F2EC"/>
          </a:solidFill>
          <a:ln w="9525">
            <a:solidFill>
              <a:srgbClr val="E0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57032" y="2459736"/>
            <a:ext cx="219456" cy="219456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79" y="23317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</a:rPr>
              <a:t>Point — a tree</a:t>
            </a:r>
          </a:p>
          <a:p>
            <a:r>
              <a:rPr sz="1100">
                <a:solidFill>
                  <a:srgbClr val="6B6B6B"/>
                </a:solidFill>
              </a:rPr>
              <a:t>點——一棵樹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863840" y="3291840"/>
            <a:ext cx="1005840" cy="210312"/>
          </a:xfrm>
          <a:prstGeom prst="line">
            <a:avLst/>
          </a:prstGeom>
          <a:ln w="38100">
            <a:solidFill>
              <a:srgbClr val="2E7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79" y="3246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</a:rPr>
              <a:t>Line — a street</a:t>
            </a:r>
          </a:p>
          <a:p>
            <a:r>
              <a:rPr sz="1100">
                <a:solidFill>
                  <a:srgbClr val="6B6B6B"/>
                </a:solidFill>
              </a:rPr>
              <a:t>線——一條街道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4233672"/>
            <a:ext cx="822960" cy="502920"/>
          </a:xfrm>
          <a:prstGeom prst="rect">
            <a:avLst/>
          </a:prstGeom>
          <a:solidFill>
            <a:srgbClr val="BFDAC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79" y="41605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</a:rPr>
              <a:t>Polygon — a building</a:t>
            </a:r>
          </a:p>
          <a:p>
            <a:r>
              <a:rPr sz="1100">
                <a:solidFill>
                  <a:srgbClr val="6B6B6B"/>
                </a:solidFill>
              </a:rPr>
              <a:t>面——一棟建築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5212080"/>
            <a:ext cx="914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8214360" y="5212080"/>
            <a:ext cx="0" cy="566928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19160" y="5212080"/>
            <a:ext cx="0" cy="566928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09560" y="5401056"/>
            <a:ext cx="914400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79" y="516636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A4A"/>
                </a:solidFill>
              </a:rPr>
              <a:t>Attributes — id, height, use</a:t>
            </a:r>
          </a:p>
          <a:p>
            <a:r>
              <a:rPr sz="1100">
                <a:solidFill>
                  <a:srgbClr val="6B6B6B"/>
                </a:solidFill>
              </a:rPr>
              <a:t>屬性——編號、高度、用途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02/8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02 · From Space to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Coordinates &amp; CRS</a:t>
            </a:r>
          </a:p>
          <a:p>
            <a:r>
              <a:rPr sz="1600">
                <a:solidFill>
                  <a:srgbClr val="6B6B6B"/>
                </a:solidFill>
              </a:rPr>
              <a:t>座標與 CRS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Coordinates locate a point on Earth's surface (e.g. lat/lon)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座標定位地表上的一個點（例如經緯度）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CRS (Coordinate Reference System) defines how those numbers map to real space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CRS（座標參照系統）定義這些數字如何對應到真實空間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Two layers in different CRS will not align — even if the data is correct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兩圖層若 CRS 不同，即使資料本身正確也無法對齊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Rule of thumb: always check CRS before comparing or combining layers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經驗法則：疊圖或比對前，一定先檢查 CRS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02/8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E7D5B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Finding Open Geospatial Data</a:t>
            </a:r>
          </a:p>
          <a:p>
            <a:r>
              <a:rPr sz="2200">
                <a:solidFill>
                  <a:srgbClr val="C9D3E0"/>
                </a:solidFill>
              </a:rPr>
              <a:t>尋找開放地理資料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OpenStreetMap, government open data, APIs — worked backwards from your question.</a:t>
            </a:r>
          </a:p>
          <a:p>
            <a:r>
              <a:rPr sz="1300">
                <a:solidFill>
                  <a:srgbClr val="C9D3E0"/>
                </a:solidFill>
              </a:rPr>
              <a:t>OpenStreetMap、政府開放資料、API——從問題反推資料。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03/8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03 · Finding Open Geospatial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The Logic: Work Backwards From the Question</a:t>
            </a:r>
          </a:p>
          <a:p>
            <a:r>
              <a:rPr sz="1600">
                <a:solidFill>
                  <a:srgbClr val="6B6B6B"/>
                </a:solidFill>
              </a:rPr>
              <a:t>邏輯：從問題反推資料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Research Question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研究問題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→ Required Variables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→ 所需變數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→ Potential Dataset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→ 可能的資料集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→ Data Source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→ 資料來源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→ Spatial Dataset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→ 空間資料集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Example: "Where are the greener public spaces?" → tree locations + public space boundaries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範例：「哪裡是較綠意盎然的公共空間？」→ 樹木位置＋公共空間邊界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03/8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9F21152-C661-53E1-EDDA-B98A46024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72" y="5107502"/>
            <a:ext cx="1734207" cy="11561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03 · Finding Open Geospatial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Where to Look</a:t>
            </a:r>
          </a:p>
          <a:p>
            <a:r>
              <a:rPr sz="1600">
                <a:solidFill>
                  <a:srgbClr val="6B6B6B"/>
                </a:solidFill>
              </a:rPr>
              <a:t>去哪裡找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B2A4A"/>
                </a:solidFill>
              </a:rPr>
              <a:t>● OpenStreetMap (OSM) — free, editable, global; buildings, roads, land use, POIs</a:t>
            </a:r>
          </a:p>
          <a:p>
            <a:pPr>
              <a:spcAft>
                <a:spcPts val="1000"/>
              </a:spcAft>
            </a:pPr>
            <a:r>
              <a:rPr sz="1300" i="1" dirty="0">
                <a:solidFill>
                  <a:srgbClr val="6B6B6B"/>
                </a:solidFill>
              </a:rPr>
              <a:t>   OpenStreetMap——</a:t>
            </a:r>
            <a:r>
              <a:rPr sz="1300" i="1" dirty="0" err="1">
                <a:solidFill>
                  <a:srgbClr val="6B6B6B"/>
                </a:solidFill>
              </a:rPr>
              <a:t>免費、可編輯、全球性；建築、道路、土地利用、興趣點</a:t>
            </a:r>
            <a:endParaRPr sz="1300" i="1" dirty="0">
              <a:solidFill>
                <a:srgbClr val="6B6B6B"/>
              </a:solidFill>
            </a:endParaRP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B2A4A"/>
                </a:solidFill>
              </a:rPr>
              <a:t>● Government open data portals — city/national datasets</a:t>
            </a:r>
          </a:p>
          <a:p>
            <a:pPr>
              <a:spcAft>
                <a:spcPts val="1000"/>
              </a:spcAft>
            </a:pPr>
            <a:r>
              <a:rPr sz="1300" i="1" dirty="0">
                <a:solidFill>
                  <a:srgbClr val="6B6B6B"/>
                </a:solidFill>
              </a:rPr>
              <a:t>   </a:t>
            </a:r>
            <a:r>
              <a:rPr sz="1300" i="1" dirty="0" err="1">
                <a:solidFill>
                  <a:srgbClr val="6B6B6B"/>
                </a:solidFill>
              </a:rPr>
              <a:t>政府開放資料平台</a:t>
            </a:r>
            <a:r>
              <a:rPr sz="1300" i="1" dirty="0">
                <a:solidFill>
                  <a:srgbClr val="6B6B6B"/>
                </a:solidFill>
              </a:rPr>
              <a:t>——</a:t>
            </a:r>
            <a:r>
              <a:rPr sz="1300" i="1" dirty="0" err="1">
                <a:solidFill>
                  <a:srgbClr val="6B6B6B"/>
                </a:solidFill>
              </a:rPr>
              <a:t>市級／國家級資料集</a:t>
            </a:r>
            <a:endParaRPr sz="1300" i="1" dirty="0">
              <a:solidFill>
                <a:srgbClr val="6B6B6B"/>
              </a:solidFill>
            </a:endParaRP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B2A4A"/>
                </a:solidFill>
              </a:rPr>
              <a:t>● APIs — programmatic access to live or large datasets</a:t>
            </a:r>
          </a:p>
          <a:p>
            <a:pPr>
              <a:spcAft>
                <a:spcPts val="1000"/>
              </a:spcAft>
            </a:pPr>
            <a:r>
              <a:rPr sz="1300" i="1" dirty="0">
                <a:solidFill>
                  <a:srgbClr val="6B6B6B"/>
                </a:solidFill>
              </a:rPr>
              <a:t>   API——</a:t>
            </a:r>
            <a:r>
              <a:rPr sz="1300" i="1" dirty="0" err="1">
                <a:solidFill>
                  <a:srgbClr val="6B6B6B"/>
                </a:solidFill>
              </a:rPr>
              <a:t>以程式化方式存取即時或大型資料集</a:t>
            </a:r>
            <a:endParaRPr sz="1300" i="1" dirty="0">
              <a:solidFill>
                <a:srgbClr val="6B6B6B"/>
              </a:solidFill>
            </a:endParaRP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B2A4A"/>
                </a:solidFill>
              </a:rPr>
              <a:t>● Environmental, transport, and weather data sources</a:t>
            </a:r>
          </a:p>
          <a:p>
            <a:pPr>
              <a:spcAft>
                <a:spcPts val="1000"/>
              </a:spcAft>
            </a:pPr>
            <a:r>
              <a:rPr sz="1300" i="1" dirty="0">
                <a:solidFill>
                  <a:srgbClr val="6B6B6B"/>
                </a:solidFill>
              </a:rPr>
              <a:t>   </a:t>
            </a:r>
            <a:r>
              <a:rPr sz="1300" i="1" dirty="0" err="1">
                <a:solidFill>
                  <a:srgbClr val="6B6B6B"/>
                </a:solidFill>
              </a:rPr>
              <a:t>環境、交通與氣象資料來源</a:t>
            </a:r>
            <a:endParaRPr sz="1300" i="1" dirty="0">
              <a:solidFill>
                <a:srgbClr val="6B6B6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03/8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C88D31-3C9A-A5D4-30AE-EEF76E0C5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994" y="5437921"/>
            <a:ext cx="1571625" cy="495300"/>
          </a:xfrm>
          <a:prstGeom prst="rect">
            <a:avLst/>
          </a:prstGeom>
        </p:spPr>
      </p:pic>
      <p:pic>
        <p:nvPicPr>
          <p:cNvPr id="13" name="Picture 12" descr="首頁｜ 政府資料開放平臺">
            <a:extLst>
              <a:ext uri="{FF2B5EF4-FFF2-40B4-BE49-F238E27FC236}">
                <a16:creationId xmlns:a16="http://schemas.microsoft.com/office/drawing/2014/main" id="{25AFD6F9-89E2-2D71-8371-B5634CF890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200" t="31015" r="14908" b="32619"/>
          <a:stretch>
            <a:fillRect/>
          </a:stretch>
        </p:blipFill>
        <p:spPr>
          <a:xfrm>
            <a:off x="4214649" y="5374860"/>
            <a:ext cx="2222938" cy="6160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CBB003-0D54-F9F7-F765-578314FE5E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5432666"/>
            <a:ext cx="2190750" cy="457200"/>
          </a:xfrm>
          <a:prstGeom prst="rect">
            <a:avLst/>
          </a:prstGeom>
        </p:spPr>
      </p:pic>
      <p:pic>
        <p:nvPicPr>
          <p:cNvPr id="16" name="Picture 15" descr="電電數位| 專注於為永續生活愛好者提供智慧的出行解決方案充電地圖APP">
            <a:extLst>
              <a:ext uri="{FF2B5EF4-FFF2-40B4-BE49-F238E27FC236}">
                <a16:creationId xmlns:a16="http://schemas.microsoft.com/office/drawing/2014/main" id="{46C1437D-8F96-4E98-5DC1-7A17980F93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5836" y="5154404"/>
            <a:ext cx="2222938" cy="8990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E7D5B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QGIS Basics</a:t>
            </a:r>
          </a:p>
          <a:p>
            <a:r>
              <a:rPr sz="2200">
                <a:solidFill>
                  <a:srgbClr val="C9D3E0"/>
                </a:solidFill>
              </a:rPr>
              <a:t>QGIS 基礎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Load, inspect, filter, buffer, spatial join, intersect, symbolize.</a:t>
            </a:r>
          </a:p>
          <a:p>
            <a:r>
              <a:rPr sz="1300">
                <a:solidFill>
                  <a:srgbClr val="C9D3E0"/>
                </a:solidFill>
              </a:rPr>
              <a:t>載入、檢視、篩選、緩衝區、空間 join、交集、符號化。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04/8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04 · QGIS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Load, Inspect, Check CRS</a:t>
            </a:r>
          </a:p>
          <a:p>
            <a:r>
              <a:rPr sz="1600">
                <a:solidFill>
                  <a:srgbClr val="6B6B6B"/>
                </a:solidFill>
              </a:rPr>
              <a:t>載入、檢視、檢查 CRS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1. Load data — drag a GeoJSON or CSV with lat/lon into QGIS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1. 載入資料——將 GeoJSON 或含經緯度的 CSV 拖入 QGIS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2. Inspect attributes — does this dataset contain the variable my question needs?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2. 檢視屬性——這份資料是否包含問題所需的變數？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3. Check CRS — confirm all layers share a CRS before anything else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3. 檢查 CRS——先確認所有圖層 CRS 一致，再做其他事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Misaligned layers are the #1 beginner error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圖層對不齊是初學者最常見的錯誤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04/8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86649D-314C-45E8-93D8-E29E71FE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47" y="3315981"/>
            <a:ext cx="3415333" cy="26181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04 · QGIS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Filter, Buffer, Spatial Join, Intersection</a:t>
            </a:r>
          </a:p>
          <a:p>
            <a:r>
              <a:rPr sz="1600">
                <a:solidFill>
                  <a:srgbClr val="6B6B6B"/>
                </a:solidFill>
              </a:rPr>
              <a:t>篩選、緩衝區、空間 Join、交集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B2A4A"/>
                </a:solidFill>
              </a:rPr>
              <a:t>● 4. Filter — isolate features relevant to the question</a:t>
            </a:r>
          </a:p>
          <a:p>
            <a:pPr>
              <a:spcAft>
                <a:spcPts val="1000"/>
              </a:spcAft>
            </a:pPr>
            <a:r>
              <a:rPr sz="1300" i="1" dirty="0">
                <a:solidFill>
                  <a:srgbClr val="6B6B6B"/>
                </a:solidFill>
              </a:rPr>
              <a:t>   4. </a:t>
            </a:r>
            <a:r>
              <a:rPr sz="1300" i="1" dirty="0" err="1">
                <a:solidFill>
                  <a:srgbClr val="6B6B6B"/>
                </a:solidFill>
              </a:rPr>
              <a:t>篩選</a:t>
            </a:r>
            <a:r>
              <a:rPr sz="1300" i="1" dirty="0">
                <a:solidFill>
                  <a:srgbClr val="6B6B6B"/>
                </a:solidFill>
              </a:rPr>
              <a:t>——</a:t>
            </a:r>
            <a:r>
              <a:rPr sz="1300" i="1" dirty="0" err="1">
                <a:solidFill>
                  <a:srgbClr val="6B6B6B"/>
                </a:solidFill>
              </a:rPr>
              <a:t>篩出與問題相關的要素</a:t>
            </a:r>
            <a:endParaRPr sz="1300" i="1" dirty="0">
              <a:solidFill>
                <a:srgbClr val="6B6B6B"/>
              </a:solidFill>
            </a:endParaRP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B2A4A"/>
                </a:solidFill>
              </a:rPr>
              <a:t>● 5. Buffer — turn a distance question ("within 10 m") into a shape</a:t>
            </a:r>
          </a:p>
          <a:p>
            <a:pPr>
              <a:spcAft>
                <a:spcPts val="1000"/>
              </a:spcAft>
            </a:pPr>
            <a:r>
              <a:rPr sz="1300" i="1" dirty="0">
                <a:solidFill>
                  <a:srgbClr val="6B6B6B"/>
                </a:solidFill>
              </a:rPr>
              <a:t>   5. </a:t>
            </a:r>
            <a:r>
              <a:rPr sz="1300" i="1" dirty="0" err="1">
                <a:solidFill>
                  <a:srgbClr val="6B6B6B"/>
                </a:solidFill>
              </a:rPr>
              <a:t>緩衝區</a:t>
            </a:r>
            <a:r>
              <a:rPr sz="1300" i="1" dirty="0">
                <a:solidFill>
                  <a:srgbClr val="6B6B6B"/>
                </a:solidFill>
              </a:rPr>
              <a:t>——</a:t>
            </a:r>
            <a:r>
              <a:rPr sz="1300" i="1" dirty="0" err="1">
                <a:solidFill>
                  <a:srgbClr val="6B6B6B"/>
                </a:solidFill>
              </a:rPr>
              <a:t>將距離問題</a:t>
            </a:r>
            <a:r>
              <a:rPr sz="1300" i="1" dirty="0">
                <a:solidFill>
                  <a:srgbClr val="6B6B6B"/>
                </a:solidFill>
              </a:rPr>
              <a:t>（「10 </a:t>
            </a:r>
            <a:r>
              <a:rPr sz="1300" i="1" dirty="0" err="1">
                <a:solidFill>
                  <a:srgbClr val="6B6B6B"/>
                </a:solidFill>
              </a:rPr>
              <a:t>公尺內</a:t>
            </a:r>
            <a:r>
              <a:rPr sz="1300" i="1" dirty="0">
                <a:solidFill>
                  <a:srgbClr val="6B6B6B"/>
                </a:solidFill>
              </a:rPr>
              <a:t>」）</a:t>
            </a:r>
            <a:r>
              <a:rPr sz="1300" i="1" dirty="0" err="1">
                <a:solidFill>
                  <a:srgbClr val="6B6B6B"/>
                </a:solidFill>
              </a:rPr>
              <a:t>轉換為形狀</a:t>
            </a:r>
            <a:endParaRPr sz="1300" i="1" dirty="0">
              <a:solidFill>
                <a:srgbClr val="6B6B6B"/>
              </a:solidFill>
            </a:endParaRP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B2A4A"/>
                </a:solidFill>
              </a:rPr>
              <a:t>● 6. Spatial Join — attach attributes from one layer to another by location</a:t>
            </a:r>
          </a:p>
          <a:p>
            <a:pPr>
              <a:spcAft>
                <a:spcPts val="1000"/>
              </a:spcAft>
            </a:pPr>
            <a:r>
              <a:rPr sz="1300" i="1" dirty="0">
                <a:solidFill>
                  <a:srgbClr val="6B6B6B"/>
                </a:solidFill>
              </a:rPr>
              <a:t>   6. </a:t>
            </a:r>
            <a:r>
              <a:rPr sz="1300" i="1" dirty="0" err="1">
                <a:solidFill>
                  <a:srgbClr val="6B6B6B"/>
                </a:solidFill>
              </a:rPr>
              <a:t>空間</a:t>
            </a:r>
            <a:r>
              <a:rPr sz="1300" i="1" dirty="0">
                <a:solidFill>
                  <a:srgbClr val="6B6B6B"/>
                </a:solidFill>
              </a:rPr>
              <a:t> Join——</a:t>
            </a:r>
            <a:r>
              <a:rPr sz="1300" i="1" dirty="0" err="1">
                <a:solidFill>
                  <a:srgbClr val="6B6B6B"/>
                </a:solidFill>
              </a:rPr>
              <a:t>依位置將一圖層的屬性附加到另一圖層</a:t>
            </a:r>
            <a:endParaRPr sz="1300" i="1" dirty="0">
              <a:solidFill>
                <a:srgbClr val="6B6B6B"/>
              </a:solidFill>
            </a:endParaRP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B2A4A"/>
                </a:solidFill>
              </a:rPr>
              <a:t>● 7. Intersection — find the exact overlap between two layers</a:t>
            </a:r>
          </a:p>
          <a:p>
            <a:pPr>
              <a:spcAft>
                <a:spcPts val="1000"/>
              </a:spcAft>
            </a:pPr>
            <a:r>
              <a:rPr sz="1300" i="1" dirty="0">
                <a:solidFill>
                  <a:srgbClr val="6B6B6B"/>
                </a:solidFill>
              </a:rPr>
              <a:t>   7. </a:t>
            </a:r>
            <a:r>
              <a:rPr sz="1300" i="1" dirty="0" err="1">
                <a:solidFill>
                  <a:srgbClr val="6B6B6B"/>
                </a:solidFill>
              </a:rPr>
              <a:t>交集</a:t>
            </a:r>
            <a:r>
              <a:rPr sz="1300" i="1" dirty="0">
                <a:solidFill>
                  <a:srgbClr val="6B6B6B"/>
                </a:solidFill>
              </a:rPr>
              <a:t>——</a:t>
            </a:r>
            <a:r>
              <a:rPr sz="1300" i="1" dirty="0" err="1">
                <a:solidFill>
                  <a:srgbClr val="6B6B6B"/>
                </a:solidFill>
              </a:rPr>
              <a:t>找出兩圖層間精確的重疊範圍</a:t>
            </a:r>
            <a:endParaRPr sz="1300" i="1" dirty="0">
              <a:solidFill>
                <a:srgbClr val="6B6B6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04/8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17</a:t>
            </a:r>
          </a:p>
        </p:txBody>
      </p:sp>
      <p:pic>
        <p:nvPicPr>
          <p:cNvPr id="9" name="Picture 8" descr="Geo-processing Tools in ArcMap ┆ Buffer_Clip_Merge_Intersect_Dissolve_Union  in ArcGIS">
            <a:extLst>
              <a:ext uri="{FF2B5EF4-FFF2-40B4-BE49-F238E27FC236}">
                <a16:creationId xmlns:a16="http://schemas.microsoft.com/office/drawing/2014/main" id="{643FF35E-0D3A-8357-569E-394C6B5A1D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4" b="2819"/>
          <a:stretch>
            <a:fillRect/>
          </a:stretch>
        </p:blipFill>
        <p:spPr>
          <a:xfrm>
            <a:off x="7431495" y="4139400"/>
            <a:ext cx="4211865" cy="2236000"/>
          </a:xfrm>
          <a:prstGeom prst="rect">
            <a:avLst/>
          </a:prstGeom>
        </p:spPr>
      </p:pic>
      <p:pic>
        <p:nvPicPr>
          <p:cNvPr id="10" name="Picture 9" descr="Spatial operation functions for ST_Geometry—ArcMap | Documentation">
            <a:extLst>
              <a:ext uri="{FF2B5EF4-FFF2-40B4-BE49-F238E27FC236}">
                <a16:creationId xmlns:a16="http://schemas.microsoft.com/office/drawing/2014/main" id="{17093023-64E5-7CBF-2FF2-662EC48355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75" t="2133" r="2554" b="4056"/>
          <a:stretch>
            <a:fillRect/>
          </a:stretch>
        </p:blipFill>
        <p:spPr>
          <a:xfrm>
            <a:off x="9159892" y="1854200"/>
            <a:ext cx="2317406" cy="217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04 · QGIS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Symbology &amp; The Real Point</a:t>
            </a:r>
          </a:p>
          <a:p>
            <a:r>
              <a:rPr sz="1600">
                <a:solidFill>
                  <a:srgbClr val="6B6B6B"/>
                </a:solidFill>
              </a:rPr>
              <a:t>符號化與核心重點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8. Basic symbology — color or size features by attribute value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8. 基本符號化——依屬性值為要素上色或調整大小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Memorize the question each tool answers, not the menu path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記住每個工具回答的問題，而非選單路徑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Filter → which features match a condition?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篩選 → 哪些要素符合條件？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Buffer → what's within X distance?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緩衝區 → 什麼在 X 距離內？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Spatial Join → what does this location inherit from its context?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空間 Join → 此位置從脈絡繼承了什麼？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Intersection → where do two things overlap?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交集 → 兩者哪裡重疊？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04/8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E7D5B"/>
                </a:solidFill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Computational GIS with Google Colab</a:t>
            </a:r>
          </a:p>
          <a:p>
            <a:r>
              <a:rPr sz="2200">
                <a:solidFill>
                  <a:srgbClr val="C9D3E0"/>
                </a:solidFill>
              </a:rPr>
              <a:t>使用 Google Colab 的運算式 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Python, GeoPandas, Shapely, Matplotlib — the same operations, reproducibly.</a:t>
            </a:r>
          </a:p>
          <a:p>
            <a:r>
              <a:rPr sz="1300">
                <a:solidFill>
                  <a:srgbClr val="C9D3E0"/>
                </a:solidFill>
              </a:rPr>
              <a:t>Python、GeoPandas、Shapely、Matplotlib——相同操作，但可重現。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05/8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05 · Computational 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Why Code, If QGIS Already Works?</a:t>
            </a:r>
          </a:p>
          <a:p>
            <a:r>
              <a:rPr sz="1600">
                <a:solidFill>
                  <a:srgbClr val="6B6B6B"/>
                </a:solidFill>
              </a:rPr>
              <a:t>QGIS 已經能用，為何還要寫程式？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QGIS = See the Space — visual exploration, spatial intuition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QGIS ＝看見空間——視覺探索、建立空間直覺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Colab / Python = Compute the Space — reproducible, scalable operations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Colab／Python ＝運算空間——可重現、可擴充的空間運算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Same four operations (filter, buffer, join, intersect) — now scriptable and repeatable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同樣四個操作（篩選、緩衝區、join、交集）——現在可寫成腳本並重複執行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Tools: Python, GeoPandas, Pandas, Shapely, Matplotlib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工具：Python、GeoPandas、Pandas、Shapely、Matplotlib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05/8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05 · Computational 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The Workflow</a:t>
            </a:r>
          </a:p>
          <a:p>
            <a:r>
              <a:rPr sz="1600">
                <a:solidFill>
                  <a:srgbClr val="6B6B6B"/>
                </a:solidFill>
              </a:rPr>
              <a:t>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Load → Inspect → Clean → Spatial Operation → Calculate → Visualize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載入 → 檢視 → 清理 → 空間運算 → 計算 → 視覺化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Every notebook runs entirely in Google Colab — no local install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每份筆記本完全在 Google Colab 執行——無需本機安裝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First cell installs dependencies automatically (geopandas, shapely, matplotlib)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第一個儲存格會自動安裝所需套件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Open in Colab badge on every notebook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每份筆記本皆附「Open in Colab」徽章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05/8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05 · Computational 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Want Real Data? Case Studies</a:t>
            </a:r>
          </a:p>
          <a:p>
            <a:r>
              <a:rPr sz="1600">
                <a:solidFill>
                  <a:srgbClr val="6B6B6B"/>
                </a:solidFill>
              </a:rPr>
              <a:t>想用真實資料？案例研究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Core notebooks use small hand-made sample data on purpose — no network stalls in class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核心筆記本刻意使用小型手造範例資料——課堂上不會卡在網路問題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Case Study 01 — Green Coverage Grid: real Taipei street-tree data, no registration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案例一——綠覆率網格化：真實台北市行道樹資料，無需註冊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Case Study 02 — Urban Heat Interpolation: Open-Meteo API, spatial interpolation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案例二——都市氣溫熱力圖：Open-Meteo API，空間內插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Recommended as the real-data option for this module's demo and the One Map Challenge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建議作為本模組示範與一張地圖挑戰的真實資料選項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05/8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E7D5B"/>
                </a:solidFill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From Data to Spatial Insight</a:t>
            </a:r>
          </a:p>
          <a:p>
            <a:r>
              <a:rPr sz="2200">
                <a:solidFill>
                  <a:srgbClr val="C9D3E0"/>
                </a:solidFill>
              </a:rPr>
              <a:t>從資料到空間洞察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A computed result is not an insight. What? Where? Why? So what?</a:t>
            </a:r>
          </a:p>
          <a:p>
            <a:r>
              <a:rPr sz="1300">
                <a:solidFill>
                  <a:srgbClr val="C9D3E0"/>
                </a:solidFill>
              </a:rPr>
              <a:t>運算結果不是洞見。是什麼？在哪裡？為什麼？所以呢？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06/8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06 · Spatial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The Bridge: Result → Insight</a:t>
            </a:r>
          </a:p>
          <a:p>
            <a:r>
              <a:rPr sz="1600">
                <a:solidFill>
                  <a:srgbClr val="6B6B6B"/>
                </a:solidFill>
              </a:rPr>
              <a:t>橋樑：結果 → 洞見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Data → Pattern → Relationship → Interpretation → Insight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資料 → 樣式 → 關係 → 詮釋 → 洞見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"I ran an analysis" is not the same as "I learned something"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「我完成了一次分析」不等於「我發現了某件事」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Push every result through four questions, in order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把每個結果依序推過四個問題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06/8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06 · Spatial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What? Where? Why? So What?</a:t>
            </a:r>
          </a:p>
          <a:p>
            <a:r>
              <a:rPr sz="1600">
                <a:solidFill>
                  <a:srgbClr val="6B6B6B"/>
                </a:solidFill>
              </a:rPr>
              <a:t>是什麼？在哪裡？為什麼？所以呢？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What? — describe the pattern, don't interpret yet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是什麼？——先描述樣式，還不要詮釋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6B6B6B"/>
                </a:solidFill>
              </a:rPr>
              <a:t>– "60% of public spaces have no tree within 10m; 40% do."</a:t>
            </a:r>
          </a:p>
          <a:p>
            <a:pPr lvl="1">
              <a:spcAft>
                <a:spcPts val="400"/>
              </a:spcAft>
            </a:pPr>
            <a:r>
              <a:rPr sz="1100" i="1">
                <a:solidFill>
                  <a:srgbClr val="6B6B6B"/>
                </a:solidFill>
              </a:rPr>
              <a:t>   「60% 的公共空間 10 公尺內無樹木；40% 有。」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Where? — where does it concentrate, cluster, or vary?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在哪裡？——集中、聚集或變化於何處？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Why? — a grounded hypothesis, not yet proven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為什麼？——根植於認識的假設，尚未證實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So what? — why it matters for the research question, design, policy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所以呢？——為何這對研究問題、設計、政策有意義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06/8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E7D5B"/>
                </a:solidFill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Research Map Design</a:t>
            </a:r>
          </a:p>
          <a:p>
            <a:r>
              <a:rPr sz="2200">
                <a:solidFill>
                  <a:srgbClr val="C9D3E0"/>
                </a:solidFill>
              </a:rPr>
              <a:t>研究地圖設計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Hierarchy, figure-ground, color, typography, annotation, composition.</a:t>
            </a:r>
          </a:p>
          <a:p>
            <a:r>
              <a:rPr sz="1300">
                <a:solidFill>
                  <a:srgbClr val="C9D3E0"/>
                </a:solidFill>
              </a:rPr>
              <a:t>層級、圖底關係、色彩、字體排印、註記、構圖。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07/8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07 · Research Map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Visual Hierarchy &amp; Figure-Ground</a:t>
            </a:r>
          </a:p>
          <a:p>
            <a:r>
              <a:rPr sz="1600">
                <a:solidFill>
                  <a:srgbClr val="6B6B6B"/>
                </a:solidFill>
              </a:rPr>
              <a:t>視覺層級與圖底關係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What should the viewer see first? Decide this deliberately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觀者應該先看到什麼？需刻意決定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Usually the main spatial pattern — not the title or legend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通常是主要空間樣式——而非標題或圖例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Figure-ground — borrowed from architectural drawing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圖底關係——直接借用自建築製圖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What is figure (the subject of analysis)? What is ground (context)?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什麼是圖（分析主體）？什麼是底（脈絡背景）？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A research map should draw this line as deliberately as a Nolli map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研究地圖應如 Nolli 地圖般刻意做出這個區分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07/8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07 · Research Map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Color Must Encode Information</a:t>
            </a:r>
          </a:p>
          <a:p>
            <a:r>
              <a:rPr sz="1600">
                <a:solidFill>
                  <a:srgbClr val="6B6B6B"/>
                </a:solidFill>
              </a:rPr>
              <a:t>色彩必須傳達資訊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Color encodes — it never just decorates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色彩用來編碼——絕不只是裝飾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Sequential — ordered, low to high (e.g. tree density: light → dark green)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連續型——有序、由低到高（例如樹木密度：淺綠到深綠）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Diverging — a meaningful midpoint (e.g. above/below average temperature)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發散型——具有意義的中點（例如高於／低於平均溫度）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Categorical — unordered categories (e.g. land use type)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類別型——無序類別（例如土地利用類型）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07/8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07 · Research Map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Typography, Annotation &amp; Composition</a:t>
            </a:r>
          </a:p>
          <a:p>
            <a:r>
              <a:rPr sz="1600">
                <a:solidFill>
                  <a:srgbClr val="6B6B6B"/>
                </a:solidFill>
              </a:rPr>
              <a:t>字體排印、註記與構圖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Typography order: Title → Subtitle → Legend → Annotation → Data source → Scale → North arrow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字體排印順序：標題 → 副標 → 圖例 → 註記 → 資料來源 → 比例尺 → 指北針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Annotation — point directly at the finding, one sentence beats a paragraph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註記——直接指出發現，一句話勝過一整段文字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Composition: hierarchy, whitespace, alignment, contrast, legibility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構圖：層級、留白、對齊、對比、易讀性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Recommended layout: Title / Main Map / Legend + Key Insight / Source-Scale-North-Author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建議版面：標題／主地圖／圖例＋關鍵洞見／來源－比例尺－指北針－作者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07/8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07 · Research Map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Before You Submit: The Checklist</a:t>
            </a:r>
          </a:p>
          <a:p>
            <a:r>
              <a:rPr sz="1600">
                <a:solidFill>
                  <a:srgbClr val="6B6B6B"/>
                </a:solidFill>
              </a:rPr>
              <a:t>提交前：檢查清單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Does the map answer a question?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地圖是否回答問題？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Is the main spatial pattern obvious? Is there a clear visual hierarchy?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主要空間樣式是否明顯？視覺層級是否清楚？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Is color encoding meaningful? Is the legend understandable?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色彩編碼是否有意義？圖例是否易懂？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Is unnecessary information removed? Is the study area clear?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是否移除多餘資訊？研究範圍是否清楚？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Is the data source documented? Is the key insight visible?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資料來源是否標註？關鍵洞見是否清晰可見？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07/8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2E7D5B"/>
                </a:solidFill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One Map Challenge</a:t>
            </a:r>
          </a:p>
          <a:p>
            <a:r>
              <a:rPr sz="2200">
                <a:solidFill>
                  <a:srgbClr val="C9D3E0"/>
                </a:solidFill>
              </a:rPr>
              <a:t>一張地圖挑戰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1 Research Question + 1 Spatial Analysis + 1 Research Map + 1 Spatial Insight.</a:t>
            </a:r>
          </a:p>
          <a:p>
            <a:r>
              <a:rPr sz="1300">
                <a:solidFill>
                  <a:srgbClr val="C9D3E0"/>
                </a:solidFill>
              </a:rPr>
              <a:t>1 個研究問題 ＋ 1 項空間分析 ＋ 1 張研究地圖 ＋ 1 個空間洞察。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08/8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08 · One Map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The Final Deliverable</a:t>
            </a:r>
          </a:p>
          <a:p>
            <a:r>
              <a:rPr sz="1600">
                <a:solidFill>
                  <a:srgbClr val="6B6B6B"/>
                </a:solidFill>
              </a:rPr>
              <a:t>最終產出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1 Research Question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1 個研究問題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+ 1 Spatial Analysis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＋ 1 項空間分析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+ 1 Research Map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＋ 1 張研究地圖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+ 1 Spatial Insight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＋ 1 個空間洞察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Example: "Where are the greener public spaces?" → tree density within public spaces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範例：「哪裡是較綠意盎然的公共空間？」→ 公共空間內的樹木密度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Module 08/8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7D5B"/>
                </a:solidFill>
              </a:rPr>
              <a:t>Recap · 回顧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Two Tools, One Workflow</a:t>
            </a:r>
          </a:p>
          <a:p>
            <a:r>
              <a:rPr sz="1600">
                <a:solidFill>
                  <a:srgbClr val="6B6B6B"/>
                </a:solidFill>
              </a:rPr>
              <a:t>兩個工具，一條工作流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25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QGIS = See the Space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QGIS ＝看見空間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Colab / Python = Compute the Space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Colab／Python ＝運算空間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Research Map = Explain the Space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研究地圖＝解釋空間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B2A4A"/>
                </a:solidFill>
              </a:rPr>
              <a:t>● Not competitors — see, then compute, then explain</a:t>
            </a:r>
          </a:p>
          <a:p>
            <a:pPr>
              <a:spcAft>
                <a:spcPts val="1000"/>
              </a:spcAft>
            </a:pPr>
            <a:r>
              <a:rPr sz="1300" i="1">
                <a:solidFill>
                  <a:srgbClr val="6B6B6B"/>
                </a:solidFill>
              </a:rPr>
              <a:t>   並非互斥——先看見、再運算、最後解釋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Map the Unknown → Analyze the Space → Discover the Insight</a:t>
            </a:r>
          </a:p>
          <a:p>
            <a:r>
              <a:rPr sz="2000">
                <a:solidFill>
                  <a:srgbClr val="2E7D5B"/>
                </a:solidFill>
              </a:rPr>
              <a:t>探索未知 → 分析空間 → 發現洞察</a:t>
            </a:r>
          </a:p>
          <a:p>
            <a:r>
              <a:rPr sz="1500" i="1">
                <a:solidFill>
                  <a:srgbClr val="C9D3E0"/>
                </a:solidFill>
              </a:rPr>
              <a:t>"I can start with a spatial question, find data, analyze it, and communicate what I discovered through a well-designed research map."</a:t>
            </a:r>
          </a:p>
          <a:p>
            <a:pPr>
              <a:spcBef>
                <a:spcPts val="2000"/>
              </a:spcBef>
            </a:pPr>
            <a:r>
              <a:rPr sz="1600">
                <a:solidFill>
                  <a:srgbClr val="FFFFFF"/>
                </a:solidFill>
              </a:rPr>
              <a:t>Questions? Discussion · 問題與討論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Mapping the Unknown · 探索未知空間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6446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Thank you · 謝謝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5202</Words>
  <Application>Microsoft Office PowerPoint</Application>
  <PresentationFormat>Widescreen</PresentationFormat>
  <Paragraphs>477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Andrew Wang</cp:lastModifiedBy>
  <cp:revision>4</cp:revision>
  <dcterms:created xsi:type="dcterms:W3CDTF">2013-01-27T09:14:16Z</dcterms:created>
  <dcterms:modified xsi:type="dcterms:W3CDTF">2026-09-02T04:46:01Z</dcterms:modified>
  <cp:category/>
</cp:coreProperties>
</file>