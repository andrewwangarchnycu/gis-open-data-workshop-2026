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/>
              <a:t>Mapping the Unknown</a:t>
            </a:r>
          </a:p>
          <a:p>
            <a:r>
              <a:rPr sz="2400"/>
              <a:t>GIS, Open Data &amp; Spatial Analysis</a:t>
            </a:r>
          </a:p>
          <a:p>
            <a:r>
              <a:rPr sz="2000"/>
              <a:t>探索未知空間：GIS、開放資料與空間分析</a:t>
            </a:r>
          </a:p>
          <a:p>
            <a:r>
              <a:rPr sz="1600" i="1"/>
              <a:t>A 2-Hour Workshop for Architecture Graduates  ·  建築系畢業生工作坊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/>
              <a:t>Project Mission</a:t>
            </a:r>
          </a:p>
          <a:p>
            <a:r>
              <a:rPr sz="1800"/>
              <a:t>專案宗旨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• Don't start with a map. Start with a question.</a:t>
            </a:r>
          </a:p>
          <a:p>
            <a:pPr/>
            <a:r>
              <a:rPr sz="1400" i="1"/>
              <a:t>  不要從地圖開始，從問題開始。</a:t>
            </a:r>
          </a:p>
          <a:p>
            <a:pPr/>
            <a:r>
              <a:rPr sz="2000"/>
              <a:t>• GIS is not only for making maps.</a:t>
            </a:r>
          </a:p>
          <a:p>
            <a:pPr/>
            <a:r>
              <a:rPr sz="1400" i="1"/>
              <a:t>  GIS 不只是用來製圖。</a:t>
            </a:r>
          </a:p>
          <a:p>
            <a:pPr/>
            <a:r>
              <a:rPr sz="2000"/>
              <a:t>• GIS is a way to think spatially.</a:t>
            </a:r>
          </a:p>
          <a:p>
            <a:pPr/>
            <a:r>
              <a:rPr sz="1400" i="1"/>
              <a:t>  GIS 是一種空間思考方式。</a:t>
            </a:r>
          </a:p>
          <a:p>
            <a:pPr/>
            <a:r>
              <a:rPr sz="2000"/>
              <a:t>• Research Question → Open Geospatial Data → GIS Exploration → Computational Spatial Analysis → Spatial Insight → Research Map</a:t>
            </a:r>
          </a:p>
          <a:p>
            <a:pPr/>
            <a:r>
              <a:rPr sz="1400" i="1"/>
              <a:t>  研究問題 → 開放地理資料 → GIS 探索 → 運算式空間分析 → 空間洞察 → 研究地圖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/>
              <a:t>Target Audience</a:t>
            </a:r>
          </a:p>
          <a:p>
            <a:r>
              <a:rPr sz="1800"/>
              <a:t>目標學員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• Architecture graduates and early-stage spatial researchers</a:t>
            </a:r>
          </a:p>
          <a:p>
            <a:pPr/>
            <a:r>
              <a:rPr sz="1400" i="1"/>
              <a:t>  建築系畢業生與初階空間研究者</a:t>
            </a:r>
          </a:p>
          <a:p>
            <a:pPr/>
            <a:r>
              <a:rPr sz="2000"/>
              <a:t>• Assumes basic architectural / spatial literacy</a:t>
            </a:r>
          </a:p>
          <a:p>
            <a:pPr/>
            <a:r>
              <a:rPr sz="1400" i="1"/>
              <a:t>  假設具備基本建築／空間素養</a:t>
            </a:r>
          </a:p>
          <a:p>
            <a:pPr/>
            <a:r>
              <a:rPr sz="2000"/>
              <a:t>• No advanced GIS knowledge required</a:t>
            </a:r>
          </a:p>
          <a:p>
            <a:pPr/>
            <a:r>
              <a:rPr sz="1400" i="1"/>
              <a:t>  不需具備進階 GIS 知識</a:t>
            </a:r>
          </a:p>
          <a:p>
            <a:pPr/>
            <a:r>
              <a:rPr sz="2000"/>
              <a:t>• No advanced Python knowledge required</a:t>
            </a:r>
          </a:p>
          <a:p>
            <a:pPr/>
            <a:r>
              <a:rPr sz="1400" i="1"/>
              <a:t>  不需具備進階 Python 知識</a:t>
            </a:r>
          </a:p>
          <a:p>
            <a:pPr/>
            <a:r>
              <a:rPr sz="2000"/>
              <a:t>• Taught through architecture, urban space, landscape, public space, environment</a:t>
            </a:r>
          </a:p>
          <a:p>
            <a:pPr/>
            <a:r>
              <a:rPr sz="1400" i="1"/>
              <a:t>  透過建築、都市空間、地景、公共空間、環境案例教學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/>
              <a:t>2-Hour Workshop Overview</a:t>
            </a:r>
          </a:p>
          <a:p>
            <a:r>
              <a:rPr sz="1800"/>
              <a:t>兩小時工作坊總覽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• 01 Mapping the Unknown — 10 min</a:t>
            </a:r>
          </a:p>
          <a:p>
            <a:pPr/>
            <a:r>
              <a:rPr sz="1400" i="1"/>
              <a:t>  01 探索未知空間 — 10 分鐘</a:t>
            </a:r>
          </a:p>
          <a:p>
            <a:pPr/>
            <a:r>
              <a:rPr sz="2000"/>
              <a:t>• 02 From Space to Data — 15 min</a:t>
            </a:r>
          </a:p>
          <a:p>
            <a:pPr/>
            <a:r>
              <a:rPr sz="1400" i="1"/>
              <a:t>  02 從空間到資料 — 15 分鐘</a:t>
            </a:r>
          </a:p>
          <a:p>
            <a:pPr/>
            <a:r>
              <a:rPr sz="2000"/>
              <a:t>• 03 Finding Open Geospatial Data — 15 min</a:t>
            </a:r>
          </a:p>
          <a:p>
            <a:pPr/>
            <a:r>
              <a:rPr sz="1400" i="1"/>
              <a:t>  03 尋找開放地理資料 — 15 分鐘</a:t>
            </a:r>
          </a:p>
          <a:p>
            <a:pPr/>
            <a:r>
              <a:rPr sz="2000"/>
              <a:t>• 04 QGIS Basics — 20 min</a:t>
            </a:r>
          </a:p>
          <a:p>
            <a:pPr/>
            <a:r>
              <a:rPr sz="1400" i="1"/>
              <a:t>  04 QGIS 基礎 — 20 分鐘</a:t>
            </a:r>
          </a:p>
          <a:p>
            <a:pPr/>
            <a:r>
              <a:rPr sz="2000"/>
              <a:t>• 05 Computational GIS with Google Colab — 20 min</a:t>
            </a:r>
          </a:p>
          <a:p>
            <a:pPr/>
            <a:r>
              <a:rPr sz="1400" i="1"/>
              <a:t>  05 使用 Google Colab 的運算式 GIS — 20 分鐘</a:t>
            </a:r>
          </a:p>
          <a:p>
            <a:pPr/>
            <a:r>
              <a:rPr sz="2000"/>
              <a:t>• 06 From Data to Spatial Insight — 15 min</a:t>
            </a:r>
          </a:p>
          <a:p>
            <a:pPr/>
            <a:r>
              <a:rPr sz="1400" i="1"/>
              <a:t>  06 從資料到空間洞察 — 15 分鐘</a:t>
            </a:r>
          </a:p>
          <a:p>
            <a:pPr/>
            <a:r>
              <a:rPr sz="2000"/>
              <a:t>• 07 Research Map Design — 20 min</a:t>
            </a:r>
          </a:p>
          <a:p>
            <a:pPr/>
            <a:r>
              <a:rPr sz="1400" i="1"/>
              <a:t>  07 研究地圖設計 — 20 分鐘</a:t>
            </a:r>
          </a:p>
          <a:p>
            <a:pPr/>
            <a:r>
              <a:rPr sz="2000"/>
              <a:t>• 08 One Map Challenge — 5 min</a:t>
            </a:r>
          </a:p>
          <a:p>
            <a:pPr/>
            <a:r>
              <a:rPr sz="1400" i="1"/>
              <a:t>  08 一張地圖挑戰 — 5 分鐘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/>
              <a:t>01 — Mapping the Unknown (10 min)</a:t>
            </a:r>
          </a:p>
          <a:p>
            <a:r>
              <a:rPr sz="1800"/>
              <a:t>01 — 探索未知空間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• What is GIS?</a:t>
            </a:r>
          </a:p>
          <a:p>
            <a:pPr/>
            <a:r>
              <a:rPr sz="1400" i="1"/>
              <a:t>  什麼是 GIS？</a:t>
            </a:r>
          </a:p>
          <a:p>
            <a:pPr/>
            <a:r>
              <a:rPr sz="2000"/>
              <a:t>• What is spatial thinking?</a:t>
            </a:r>
          </a:p>
          <a:p>
            <a:pPr/>
            <a:r>
              <a:rPr sz="1400" i="1"/>
              <a:t>  什麼是空間思考？</a:t>
            </a:r>
          </a:p>
          <a:p>
            <a:pPr/>
            <a:r>
              <a:rPr sz="2000"/>
              <a:t>• GIS ≠ map making</a:t>
            </a:r>
          </a:p>
          <a:p>
            <a:pPr/>
            <a:r>
              <a:rPr sz="1400" i="1"/>
              <a:t>  GIS 不等於製圖</a:t>
            </a:r>
          </a:p>
          <a:p>
            <a:pPr/>
            <a:r>
              <a:rPr sz="2000"/>
              <a:t>• GIS as a research method</a:t>
            </a:r>
          </a:p>
          <a:p>
            <a:pPr/>
            <a:r>
              <a:rPr sz="1400" i="1"/>
              <a:t>  GIS 作為一種研究方法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/>
              <a:t>02 — From Space to Data (15 min)</a:t>
            </a:r>
          </a:p>
          <a:p>
            <a:r>
              <a:rPr sz="1800"/>
              <a:t>02 — 從空間到資料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• Core data types: Vector, Raster, Point, Line, Polygon</a:t>
            </a:r>
          </a:p>
          <a:p>
            <a:pPr/>
            <a:r>
              <a:rPr sz="1400" i="1"/>
              <a:t>  核心資料類型：向量、網格、點、線、面</a:t>
            </a:r>
          </a:p>
          <a:p>
            <a:pPr/>
            <a:r>
              <a:rPr sz="2000"/>
              <a:t>• Attributes, Coordinates, CRS</a:t>
            </a:r>
          </a:p>
          <a:p>
            <a:pPr/>
            <a:r>
              <a:rPr sz="1400" i="1"/>
              <a:t>  屬性、座標、座標參照系統 (CRS)</a:t>
            </a:r>
          </a:p>
          <a:p>
            <a:pPr/>
            <a:r>
              <a:rPr sz="2000"/>
              <a:t>• Taught using architectural examples</a:t>
            </a:r>
          </a:p>
          <a:p>
            <a:pPr/>
            <a:r>
              <a:rPr sz="1400" i="1"/>
              <a:t>  以建築案例進行教學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/>
              <a:t>03 — Finding Open Geospatial Data (15 min)</a:t>
            </a:r>
          </a:p>
          <a:p>
            <a:r>
              <a:rPr sz="1800"/>
              <a:t>03 — 尋找開放地理資料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• Sources: OpenStreetMap, government open data, APIs</a:t>
            </a:r>
          </a:p>
          <a:p>
            <a:pPr/>
            <a:r>
              <a:rPr sz="1400" i="1"/>
              <a:t>  資料來源：OpenStreetMap、政府開放資料、API</a:t>
            </a:r>
          </a:p>
          <a:p>
            <a:pPr/>
            <a:r>
              <a:rPr sz="2000"/>
              <a:t>• Environmental, transport, and weather data</a:t>
            </a:r>
          </a:p>
          <a:p>
            <a:pPr/>
            <a:r>
              <a:rPr sz="1400" i="1"/>
              <a:t>  環境、交通與氣象資料</a:t>
            </a:r>
          </a:p>
          <a:p>
            <a:pPr/>
            <a:r>
              <a:rPr sz="2000"/>
              <a:t>• Logic chain:</a:t>
            </a:r>
          </a:p>
          <a:p>
            <a:pPr/>
            <a:r>
              <a:rPr sz="1400" i="1"/>
              <a:t>  邏輯鏈：</a:t>
            </a:r>
          </a:p>
          <a:p>
            <a:pPr lvl="1"/>
            <a:r>
              <a:rPr sz="1600"/>
              <a:t>– Research Question → Required Variables → Potential Dataset → Data Source → Spatial Dataset</a:t>
            </a:r>
          </a:p>
          <a:p>
            <a:pPr lvl="1"/>
            <a:r>
              <a:rPr sz="1200" i="1"/>
              <a:t>  研究問題 → 所需變數 → 潛在資料集 → 資料來源 → 空間資料集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/>
              <a:t>04 — QGIS Basics (20 min)</a:t>
            </a:r>
          </a:p>
          <a:p>
            <a:r>
              <a:rPr sz="1800"/>
              <a:t>04 — QGIS 基礎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• Load data / Inspect attributes / Check CRS</a:t>
            </a:r>
          </a:p>
          <a:p>
            <a:pPr/>
            <a:r>
              <a:rPr sz="1400" i="1"/>
              <a:t>  載入資料／檢視屬性／檢查 CRS</a:t>
            </a:r>
          </a:p>
          <a:p>
            <a:pPr/>
            <a:r>
              <a:rPr sz="2000"/>
              <a:t>• Filter / Buffer / Spatial Join / Intersection</a:t>
            </a:r>
          </a:p>
          <a:p>
            <a:pPr/>
            <a:r>
              <a:rPr sz="1400" i="1"/>
              <a:t>  篩選／緩衝區／空間連結／交集</a:t>
            </a:r>
          </a:p>
          <a:p>
            <a:pPr/>
            <a:r>
              <a:rPr sz="2000"/>
              <a:t>• Basic symbology</a:t>
            </a:r>
          </a:p>
          <a:p>
            <a:pPr/>
            <a:r>
              <a:rPr sz="1400" i="1"/>
              <a:t>  基礎符號化</a:t>
            </a:r>
          </a:p>
          <a:p>
            <a:pPr/>
            <a:r>
              <a:rPr sz="2000"/>
              <a:t>• Focus on spatial reasoning, not software commands</a:t>
            </a:r>
          </a:p>
          <a:p>
            <a:pPr/>
            <a:r>
              <a:rPr sz="1400" i="1"/>
              <a:t>  著重空間推理，而非軟體操作指令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/>
              <a:t>05 — Computational GIS with Google Colab (20 min)</a:t>
            </a:r>
          </a:p>
          <a:p>
            <a:r>
              <a:rPr sz="1800"/>
              <a:t>05 — 使用 Google Colab 的運算式 GIS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• Tools: Python, GeoPandas, Pandas, Shapely, Matplotlib</a:t>
            </a:r>
          </a:p>
          <a:p>
            <a:pPr/>
            <a:r>
              <a:rPr sz="1400" i="1"/>
              <a:t>  工具：Python、GeoPandas、Pandas、Shapely、Matplotlib</a:t>
            </a:r>
          </a:p>
          <a:p>
            <a:pPr/>
            <a:r>
              <a:rPr sz="2000"/>
              <a:t>• Workflow: Load → Inspect → Clean → Spatial Operation → Calculate → Visualize</a:t>
            </a:r>
          </a:p>
          <a:p>
            <a:pPr/>
            <a:r>
              <a:rPr sz="1400" i="1"/>
              <a:t>  流程：載入 → 檢視 → 清理 → 空間運算 → 計算 → 視覺化</a:t>
            </a:r>
          </a:p>
          <a:p>
            <a:pPr/>
            <a:r>
              <a:rPr sz="2000"/>
              <a:t>• Beginner-friendly code, runs entirely in Google Colab</a:t>
            </a:r>
          </a:p>
          <a:p>
            <a:pPr/>
            <a:r>
              <a:rPr sz="1400" i="1"/>
              <a:t>  程式碼對初學者友善，完全在 Google Colab 執行</a:t>
            </a:r>
          </a:p>
          <a:p>
            <a:pPr/>
            <a:r>
              <a:rPr sz="2000"/>
              <a:t>• Every notebook includes an "Open in Colab" badge</a:t>
            </a:r>
          </a:p>
          <a:p>
            <a:pPr/>
            <a:r>
              <a:rPr sz="1400" i="1"/>
              <a:t>  每份筆記本皆附「Open in Colab」徽章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/>
              <a:t>06 — From Data to Spatial Insight (15 min)</a:t>
            </a:r>
          </a:p>
          <a:p>
            <a:r>
              <a:rPr sz="1800"/>
              <a:t>06 — 從資料到空間洞察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• Chain: Data → Pattern → Relationship → Interpretation → Insight</a:t>
            </a:r>
          </a:p>
          <a:p>
            <a:pPr/>
            <a:r>
              <a:rPr sz="1400" i="1"/>
              <a:t>  鏈結：資料 → 模式 → 關係 → 詮釋 → 洞察</a:t>
            </a:r>
          </a:p>
          <a:p>
            <a:pPr/>
            <a:r>
              <a:rPr sz="2000"/>
              <a:t>• Guiding questions: What? Where? Why? So what?</a:t>
            </a:r>
          </a:p>
          <a:p>
            <a:pPr/>
            <a:r>
              <a:rPr sz="1400" i="1"/>
              <a:t>  引導問題：是什麼？在哪裡？為什麼？所以呢？</a:t>
            </a:r>
          </a:p>
          <a:p>
            <a:pPr/>
            <a:r>
              <a:rPr sz="2000"/>
              <a:t>• The map is evidence, not the final conclusion</a:t>
            </a:r>
          </a:p>
          <a:p>
            <a:pPr/>
            <a:r>
              <a:rPr sz="1400" i="1"/>
              <a:t>  地圖是證據，而非最終結論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/>
              <a:t>07 — Research Map Design (20 min)</a:t>
            </a:r>
          </a:p>
          <a:p>
            <a:r>
              <a:rPr sz="1800"/>
              <a:t>07 — 研究地圖設計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• Visual hierarchy — what should the viewer see first?</a:t>
            </a:r>
          </a:p>
          <a:p>
            <a:pPr/>
            <a:r>
              <a:rPr sz="1400" i="1"/>
              <a:t>  視覺層級——觀者應該先看到什麼？</a:t>
            </a:r>
          </a:p>
          <a:p>
            <a:pPr/>
            <a:r>
              <a:rPr sz="2000"/>
              <a:t>• Figure-ground, using architectural spatial representation</a:t>
            </a:r>
          </a:p>
          <a:p>
            <a:pPr/>
            <a:r>
              <a:rPr sz="1400" i="1"/>
              <a:t>  圖底關係，運用建築空間再現原則</a:t>
            </a:r>
          </a:p>
          <a:p>
            <a:pPr/>
            <a:r>
              <a:rPr sz="2000"/>
              <a:t>• Color: Sequential, Diverging, Categorical — color must encode information</a:t>
            </a:r>
          </a:p>
          <a:p>
            <a:pPr/>
            <a:r>
              <a:rPr sz="1400" i="1"/>
              <a:t>  色彩：序列型、發散型、類別型——色彩須承載資訊</a:t>
            </a:r>
          </a:p>
          <a:p>
            <a:pPr/>
            <a:r>
              <a:rPr sz="2000"/>
              <a:t>• Typography: title, subtitle, legend, annotation, data source, scale, north arrow</a:t>
            </a:r>
          </a:p>
          <a:p>
            <a:pPr/>
            <a:r>
              <a:rPr sz="1400" i="1"/>
              <a:t>  字體排印：標題、副標、圖例、註記、資料來源、比例尺、指北針</a:t>
            </a:r>
          </a:p>
          <a:p>
            <a:pPr/>
            <a:r>
              <a:rPr sz="2000"/>
              <a:t>• Annotation highlights key spatial findings directly on the map</a:t>
            </a:r>
          </a:p>
          <a:p>
            <a:pPr/>
            <a:r>
              <a:rPr sz="1400" i="1"/>
              <a:t>  註記直接標示地圖上的重要空間發現</a:t>
            </a:r>
          </a:p>
          <a:p>
            <a:pPr/>
            <a:r>
              <a:rPr sz="2000"/>
              <a:t>• Composition: hierarchy, whitespace, alignment, contrast, legibility</a:t>
            </a:r>
          </a:p>
          <a:p>
            <a:pPr/>
            <a:r>
              <a:rPr sz="1400" i="1"/>
              <a:t>  構圖：層級、留白、對齊、對比、可讀性</a:t>
            </a:r>
          </a:p>
          <a:p>
            <a:pPr/>
            <a:r>
              <a:rPr sz="2000"/>
              <a:t>• Output should look like a research diagram, not a raw GIS screenshot</a:t>
            </a:r>
          </a:p>
          <a:p>
            <a:pPr/>
            <a:r>
              <a:rPr sz="1400" i="1"/>
              <a:t>  成果應呈現為研究圖表，而非原始 GIS 截圖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/>
              <a:t>08 — One Map Challenge (5 min)</a:t>
            </a:r>
          </a:p>
          <a:p>
            <a:r>
              <a:rPr sz="1800"/>
              <a:t>08 — 一張地圖挑戰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• Deliverable: 1 Research Question + 1 Spatial Analysis + 1 Research Map + 1 Spatial Insight</a:t>
            </a:r>
          </a:p>
          <a:p>
            <a:pPr/>
            <a:r>
              <a:rPr sz="1400" i="1"/>
              <a:t>  成果：1 個研究問題 + 1 項空間分析 + 1 張研究地圖 + 1 個空間洞察</a:t>
            </a:r>
          </a:p>
          <a:p>
            <a:pPr/>
            <a:r>
              <a:rPr sz="2000"/>
              <a:t>• Example question: Where are the greener public spaces?</a:t>
            </a:r>
          </a:p>
          <a:p>
            <a:pPr/>
            <a:r>
              <a:rPr sz="1400" i="1"/>
              <a:t>  範例問題：哪裡有更綠意的公共空間？</a:t>
            </a:r>
          </a:p>
          <a:p>
            <a:pPr/>
            <a:r>
              <a:rPr sz="2000"/>
              <a:t>• Possible datasets: Trees, Buildings, Public spaces, Roads</a:t>
            </a:r>
          </a:p>
          <a:p>
            <a:pPr/>
            <a:r>
              <a:rPr sz="1400" i="1"/>
              <a:t>  可能資料集：樹木、建物、公共空間、道路</a:t>
            </a:r>
          </a:p>
          <a:p>
            <a:pPr/>
            <a:r>
              <a:rPr sz="2000"/>
              <a:t>• Possible analysis: Tree density within public spaces</a:t>
            </a:r>
          </a:p>
          <a:p>
            <a:pPr/>
            <a:r>
              <a:rPr sz="1400" i="1"/>
              <a:t>  可能分析：公共空間內的樹木密度</a:t>
            </a:r>
          </a:p>
          <a:p>
            <a:pPr/>
            <a:r>
              <a:rPr sz="2000"/>
              <a:t>• Final output includes: Title, Main map, Legend, Data source, Annotation, One key insight</a:t>
            </a:r>
          </a:p>
          <a:p>
            <a:pPr/>
            <a:r>
              <a:rPr sz="1400" i="1"/>
              <a:t>  最終成果包含：標題、主地圖、圖例、資料來源、註記、一個關鍵洞察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/>
              <a:t>Research Case — Flexible &amp; Transferable</a:t>
            </a:r>
          </a:p>
          <a:p>
            <a:r>
              <a:rPr sz="1800"/>
              <a:t>研究案例——彈性且可轉移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• Urban environmental / public-space case with flexible layers</a:t>
            </a:r>
          </a:p>
          <a:p>
            <a:pPr/>
            <a:r>
              <a:rPr sz="1400" i="1"/>
              <a:t>  都市環境／公共空間案例，圖層彈性可調</a:t>
            </a:r>
          </a:p>
          <a:p>
            <a:pPr/>
            <a:r>
              <a:rPr sz="2000"/>
              <a:t>• Possible layers: buildings, trees, green spaces, roads, public spaces, land use, elevation, environmental observations</a:t>
            </a:r>
          </a:p>
          <a:p>
            <a:pPr/>
            <a:r>
              <a:rPr sz="1400" i="1"/>
              <a:t>  可能圖層：建物、樹木、綠地、道路、公共空間、土地使用、高程、環境觀測資料</a:t>
            </a:r>
          </a:p>
          <a:p>
            <a:pPr/>
            <a:r>
              <a:rPr sz="2000"/>
              <a:t>• NOT hard-coded around thermal comfort</a:t>
            </a:r>
          </a:p>
          <a:p>
            <a:pPr/>
            <a:r>
              <a:rPr sz="1400" i="1"/>
              <a:t>  並非僅侷限於熱舒適度議題</a:t>
            </a:r>
          </a:p>
          <a:p>
            <a:pPr/>
            <a:r>
              <a:rPr sz="2000"/>
              <a:t>• Transferable to: urban morphology, mobility, walkability, landscape, environmental analysis, public space, architecture, spatial behavior</a:t>
            </a:r>
          </a:p>
          <a:p>
            <a:pPr/>
            <a:r>
              <a:rPr sz="1400" i="1"/>
              <a:t>  可轉移應用於：都市型態、移動性、可步行性、地景、環境分析、公共空間、建築、空間行為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/>
              <a:t>QGIS + Colab Relationship</a:t>
            </a:r>
          </a:p>
          <a:p>
            <a:r>
              <a:rPr sz="1800"/>
              <a:t>QGIS 與 Colab 的關係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• QGIS = See the Space</a:t>
            </a:r>
          </a:p>
          <a:p>
            <a:pPr/>
            <a:r>
              <a:rPr sz="1400" i="1"/>
              <a:t>  QGIS = 看見空間</a:t>
            </a:r>
          </a:p>
          <a:p>
            <a:pPr/>
            <a:r>
              <a:rPr sz="2000"/>
              <a:t>• Colab / Python = Compute the Space</a:t>
            </a:r>
          </a:p>
          <a:p>
            <a:pPr/>
            <a:r>
              <a:rPr sz="1400" i="1"/>
              <a:t>  Colab／Python = 運算空間</a:t>
            </a:r>
          </a:p>
          <a:p>
            <a:pPr/>
            <a:r>
              <a:rPr sz="2000"/>
              <a:t>• Research Map = Explain the Space</a:t>
            </a:r>
          </a:p>
          <a:p>
            <a:pPr/>
            <a:r>
              <a:rPr sz="1400" i="1"/>
              <a:t>  研究地圖 = 解釋空間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/>
              <a:t>Repository Structure</a:t>
            </a:r>
          </a:p>
          <a:p>
            <a:r>
              <a:rPr sz="1800"/>
              <a:t>儲存庫結構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• README.md, LICENSE, CONTRIBUTING.md</a:t>
            </a:r>
          </a:p>
          <a:p>
            <a:pPr/>
            <a:r>
              <a:rPr sz="1400" i="1"/>
              <a:t>  README.md、LICENSE、CONTRIBUTING.md</a:t>
            </a:r>
          </a:p>
          <a:p>
            <a:pPr/>
            <a:r>
              <a:rPr sz="2000"/>
              <a:t>• syllabus/ — workshop outline, learning objectives, teaching plan</a:t>
            </a:r>
          </a:p>
          <a:p>
            <a:pPr/>
            <a:r>
              <a:rPr sz="1400" i="1"/>
              <a:t>  syllabus/ — 工作坊大綱、學習目標、教學計畫</a:t>
            </a:r>
          </a:p>
          <a:p>
            <a:pPr/>
            <a:r>
              <a:rPr sz="2000"/>
              <a:t>• lessons/01–07 — one folder per module</a:t>
            </a:r>
          </a:p>
          <a:p>
            <a:pPr/>
            <a:r>
              <a:rPr sz="1400" i="1"/>
              <a:t>  lessons/01–07 — 每個模組一個資料夾</a:t>
            </a:r>
          </a:p>
          <a:p>
            <a:pPr/>
            <a:r>
              <a:rPr sz="2000"/>
              <a:t>• notebooks/ — 01_open_data, 02_geodata_exploration, 03_spatial_analysis, 04_mini_research</a:t>
            </a:r>
          </a:p>
          <a:p>
            <a:pPr/>
            <a:r>
              <a:rPr sz="1400" i="1"/>
              <a:t>  notebooks/ — 四份 Colab 筆記本</a:t>
            </a:r>
          </a:p>
          <a:p>
            <a:pPr/>
            <a:r>
              <a:rPr sz="2000"/>
              <a:t>• qgis/ — 01_basics, 02_analysis, 03_map_design</a:t>
            </a:r>
          </a:p>
          <a:p>
            <a:pPr/>
            <a:r>
              <a:rPr sz="1400" i="1"/>
              <a:t>  qgis/ — 基礎、分析、地圖設計</a:t>
            </a:r>
          </a:p>
          <a:p>
            <a:pPr/>
            <a:r>
              <a:rPr sz="2000"/>
              <a:t>• data/ — raw, processed</a:t>
            </a:r>
          </a:p>
          <a:p>
            <a:pPr/>
            <a:r>
              <a:rPr sz="1400" i="1"/>
              <a:t>  data/ — 原始資料、處理後資料</a:t>
            </a:r>
          </a:p>
          <a:p>
            <a:pPr/>
            <a:r>
              <a:rPr sz="2000"/>
              <a:t>• scripts/ — download, preprocessing, analysis</a:t>
            </a:r>
          </a:p>
          <a:p>
            <a:pPr/>
            <a:r>
              <a:rPr sz="1400" i="1"/>
              <a:t>  scripts/ — 下載、前處理、分析</a:t>
            </a:r>
          </a:p>
          <a:p>
            <a:pPr/>
            <a:r>
              <a:rPr sz="2000"/>
              <a:t>• exercises/ — data exploration, QGIS, spatial analysis, one map challenge</a:t>
            </a:r>
          </a:p>
          <a:p>
            <a:pPr/>
            <a:r>
              <a:rPr sz="1400" i="1"/>
              <a:t>  exercises/ — 資料探索、QGIS、空間分析、一張地圖挑戰</a:t>
            </a:r>
          </a:p>
          <a:p>
            <a:pPr/>
            <a:r>
              <a:rPr sz="2000"/>
              <a:t>• examples/ — research maps, student examples</a:t>
            </a:r>
          </a:p>
          <a:p>
            <a:pPr/>
            <a:r>
              <a:rPr sz="1400" i="1"/>
              <a:t>  examples/ — 研究地圖、學生範例</a:t>
            </a:r>
          </a:p>
          <a:p>
            <a:pPr/>
            <a:r>
              <a:rPr sz="2000"/>
              <a:t>• resources/ — gis, open-data, python, research-methods, map-design</a:t>
            </a:r>
          </a:p>
          <a:p>
            <a:pPr/>
            <a:r>
              <a:rPr sz="1400" i="1"/>
              <a:t>  resources/ — GIS、開放資料、Python、研究方法、地圖設計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/>
              <a:t>Google Colab Requirements</a:t>
            </a:r>
          </a:p>
          <a:p>
            <a:r>
              <a:rPr sz="1800"/>
              <a:t>Google Colab 要求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• Every notebook runs in Google Colab with an Open in Colab badge</a:t>
            </a:r>
          </a:p>
          <a:p>
            <a:pPr/>
            <a:r>
              <a:rPr sz="1400" i="1"/>
              <a:t>  每份筆記本皆可在 Google Colab 執行，並附徽章</a:t>
            </a:r>
          </a:p>
          <a:p>
            <a:pPr/>
            <a:r>
              <a:rPr sz="2000"/>
              <a:t>• Installs dependencies automatically; no local filesystem assumptions</a:t>
            </a:r>
          </a:p>
          <a:p>
            <a:pPr/>
            <a:r>
              <a:rPr sz="1400" i="1"/>
              <a:t>  自動安裝相依套件；不假設本機檔案系統</a:t>
            </a:r>
          </a:p>
          <a:p>
            <a:pPr/>
            <a:r>
              <a:rPr sz="2000"/>
              <a:t>• Uses small, reproducible datasets</a:t>
            </a:r>
          </a:p>
          <a:p>
            <a:pPr/>
            <a:r>
              <a:rPr sz="1400" i="1"/>
              <a:t>  使用小型、可重現的資料集</a:t>
            </a:r>
          </a:p>
          <a:p>
            <a:pPr/>
            <a:r>
              <a:rPr sz="2000"/>
              <a:t>• Clear section headers; spatial meaning explained before code</a:t>
            </a:r>
          </a:p>
          <a:p>
            <a:pPr/>
            <a:r>
              <a:rPr sz="1400" i="1"/>
              <a:t>  清楚的段落標題；程式碼前先解釋空間意義</a:t>
            </a:r>
          </a:p>
          <a:p>
            <a:pPr/>
            <a:r>
              <a:rPr sz="2000"/>
              <a:t>• Includes expected outputs, beginner-friendly comments</a:t>
            </a:r>
          </a:p>
          <a:p>
            <a:pPr/>
            <a:r>
              <a:rPr sz="1400" i="1"/>
              <a:t>  包含預期輸出、對初學者友善的註解</a:t>
            </a:r>
          </a:p>
          <a:p>
            <a:pPr/>
            <a:r>
              <a:rPr sz="2000"/>
              <a:t>• Ends with a research interpretation exercise</a:t>
            </a:r>
          </a:p>
          <a:p>
            <a:pPr/>
            <a:r>
              <a:rPr sz="1400" i="1"/>
              <a:t>  以研究詮釋練習作結</a:t>
            </a:r>
          </a:p>
          <a:p>
            <a:pPr/>
            <a:r>
              <a:rPr sz="2000"/>
              <a:t>• Preferred packages: geopandas, pandas, shapely, matplotlib, jupyter, osmnx</a:t>
            </a:r>
          </a:p>
          <a:p>
            <a:pPr/>
            <a:r>
              <a:rPr sz="1400" i="1"/>
              <a:t>  偏好套件：geopandas、pandas、shapely、matplotlib、jupyter、osmnx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/>
              <a:t>Research Map Design System</a:t>
            </a:r>
          </a:p>
          <a:p>
            <a:r>
              <a:rPr sz="1800"/>
              <a:t>研究地圖設計系統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• Checklist: does the map answer a question? Is the pattern obvious?</a:t>
            </a:r>
          </a:p>
          <a:p>
            <a:pPr/>
            <a:r>
              <a:rPr sz="1400" i="1"/>
              <a:t>  檢核表：地圖是否回答問題？模式是否明顯？</a:t>
            </a:r>
          </a:p>
          <a:p>
            <a:pPr/>
            <a:r>
              <a:rPr sz="2000"/>
              <a:t>• Clear visual hierarchy, meaningful color encoding, readable typography</a:t>
            </a:r>
          </a:p>
          <a:p>
            <a:pPr/>
            <a:r>
              <a:rPr sz="1400" i="1"/>
              <a:t>  清楚的視覺層級、有意義的色彩編碼、易讀的字體排印</a:t>
            </a:r>
          </a:p>
          <a:p>
            <a:pPr/>
            <a:r>
              <a:rPr sz="2000"/>
              <a:t>• Unnecessary information removed; study area clear; data source documented</a:t>
            </a:r>
          </a:p>
          <a:p>
            <a:pPr/>
            <a:r>
              <a:rPr sz="1400" i="1"/>
              <a:t>  移除多餘資訊；研究範圍清楚；標註資料來源</a:t>
            </a:r>
          </a:p>
          <a:p>
            <a:pPr/>
            <a:r>
              <a:rPr sz="2000"/>
              <a:t>• Key insight visible on the map</a:t>
            </a:r>
          </a:p>
          <a:p>
            <a:pPr/>
            <a:r>
              <a:rPr sz="1400" i="1"/>
              <a:t>  地圖上的關鍵洞察清晰可見</a:t>
            </a:r>
          </a:p>
          <a:p>
            <a:pPr/>
            <a:r>
              <a:rPr sz="2000"/>
              <a:t>• Supporting docs: visual-hierarchy, color-for-maps, typography, figure-ground, annotation, legend-design</a:t>
            </a:r>
          </a:p>
          <a:p>
            <a:pPr/>
            <a:r>
              <a:rPr sz="1400" i="1"/>
              <a:t>  支援文件：視覺層級、地圖色彩、字體排印、圖底關係、註記、圖例設計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/>
              <a:t>Final Map Output</a:t>
            </a:r>
          </a:p>
          <a:p>
            <a:r>
              <a:rPr sz="1800"/>
              <a:t>最終地圖成果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• Layout: Title / Research Question / Subtitle</a:t>
            </a:r>
          </a:p>
          <a:p>
            <a:pPr/>
            <a:r>
              <a:rPr sz="1400" i="1"/>
              <a:t>  版面：標題／研究問題／副標</a:t>
            </a:r>
          </a:p>
          <a:p>
            <a:pPr/>
            <a:r>
              <a:rPr sz="2000"/>
              <a:t>• Main map showing the spatial pattern</a:t>
            </a:r>
          </a:p>
          <a:p>
            <a:pPr/>
            <a:r>
              <a:rPr sz="1400" i="1"/>
              <a:t>  呈現空間模式的主地圖</a:t>
            </a:r>
          </a:p>
          <a:p>
            <a:pPr/>
            <a:r>
              <a:rPr sz="2000"/>
              <a:t>• Legend and Key Insight side by side</a:t>
            </a:r>
          </a:p>
          <a:p>
            <a:pPr/>
            <a:r>
              <a:rPr sz="1400" i="1"/>
              <a:t>  圖例與關鍵洞察並列</a:t>
            </a:r>
          </a:p>
          <a:p>
            <a:pPr/>
            <a:r>
              <a:rPr sz="2000"/>
              <a:t>• Footer: Data Source · Scale · North · Author</a:t>
            </a:r>
          </a:p>
          <a:p>
            <a:pPr/>
            <a:r>
              <a:rPr sz="1400" i="1"/>
              <a:t>  頁尾：資料來源．比例尺．指北針．作者</a:t>
            </a:r>
          </a:p>
          <a:p>
            <a:pPr/>
            <a:r>
              <a:rPr sz="2000"/>
              <a:t>• Format: A4 landscape or 16:9</a:t>
            </a:r>
          </a:p>
          <a:p>
            <a:pPr/>
            <a:r>
              <a:rPr sz="1400" i="1"/>
              <a:t>  格式：A4 橫向或 16:9</a:t>
            </a:r>
          </a:p>
          <a:p>
            <a:pPr/>
            <a:r>
              <a:rPr sz="2000"/>
              <a:t>• Inspired by architectural diagrams, scientific visualization, contemporary cartography, urban analysis graphics</a:t>
            </a:r>
          </a:p>
          <a:p>
            <a:pPr/>
            <a:r>
              <a:rPr sz="1400" i="1"/>
              <a:t>  靈感來自建築圖表、科學視覺化、當代製圖學、都市分析圖</a:t>
            </a:r>
          </a:p>
          <a:p>
            <a:pPr/>
            <a:r>
              <a:rPr sz="2000"/>
              <a:t>• Avoid decorative design that reduces analytical clarity</a:t>
            </a:r>
          </a:p>
          <a:p>
            <a:pPr/>
            <a:r>
              <a:rPr sz="1400" i="1"/>
              <a:t>  避免降低分析清晰度的裝飾性設計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/>
              <a:t>Pedagogical Principle</a:t>
            </a:r>
          </a:p>
          <a:p>
            <a:r>
              <a:rPr sz="1800"/>
              <a:t>教學原則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• Every technical operation must answer: Why are we doing this?</a:t>
            </a:r>
          </a:p>
          <a:p>
            <a:pPr/>
            <a:r>
              <a:rPr sz="1400" i="1"/>
              <a:t>  每個技術操作都必須回答：我們為什麼要這麼做？</a:t>
            </a:r>
          </a:p>
          <a:p>
            <a:pPr/>
            <a:r>
              <a:rPr sz="2000"/>
              <a:t>• Not: "Click Buffer."</a:t>
            </a:r>
          </a:p>
          <a:p>
            <a:pPr/>
            <a:r>
              <a:rPr sz="1400" i="1"/>
              <a:t>  不是：「點選緩衝區。」</a:t>
            </a:r>
          </a:p>
          <a:p>
            <a:pPr/>
            <a:r>
              <a:rPr sz="2000"/>
              <a:t>• Instead: "We create a 10 m buffer to ask which buildings are within 10 m of vegetation."</a:t>
            </a:r>
          </a:p>
          <a:p>
            <a:pPr/>
            <a:r>
              <a:rPr sz="1400" i="1"/>
              <a:t>  而是：「我們建立 10 公尺緩衝區，是為了詢問哪些建物位於植栽 10 公尺範圍內。」</a:t>
            </a:r>
          </a:p>
          <a:p>
            <a:pPr/>
            <a:r>
              <a:rPr sz="2000"/>
              <a:t>• Chain: Tool → Spatial Meaning → Research Question</a:t>
            </a:r>
          </a:p>
          <a:p>
            <a:pPr/>
            <a:r>
              <a:rPr sz="1400" i="1"/>
              <a:t>  鏈結：工具 → 空間意義 → 研究問題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/>
              <a:t>Quality Standard</a:t>
            </a:r>
          </a:p>
          <a:p>
            <a:r>
              <a:rPr sz="1800"/>
              <a:t>品質標準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• The repository should feel like Architecture + GIS + Computational Research + Information Design</a:t>
            </a:r>
          </a:p>
          <a:p>
            <a:pPr/>
            <a:r>
              <a:rPr sz="1400" i="1"/>
              <a:t>  儲存庫應體現：建築 + GIS + 運算研究 + 資訊設計</a:t>
            </a:r>
          </a:p>
          <a:p>
            <a:pPr/>
            <a:r>
              <a:rPr sz="2000"/>
              <a:t>• Not a generic programming tutorial</a:t>
            </a:r>
          </a:p>
          <a:p>
            <a:pPr/>
            <a:r>
              <a:rPr sz="1400" i="1"/>
              <a:t>  而非通用程式教學</a:t>
            </a:r>
          </a:p>
          <a:p>
            <a:pPr/>
            <a:r>
              <a:rPr sz="2000"/>
              <a:t>• Priorities: research thinking, spatial reasoning, data literacy, reproducibility, visual communication, technical implementation</a:t>
            </a:r>
          </a:p>
          <a:p>
            <a:pPr/>
            <a:r>
              <a:rPr sz="1400" i="1"/>
              <a:t>  優先順序：研究思維、空間推理、資料素養、可重現性、視覺傳達、技術實作</a:t>
            </a:r>
          </a:p>
          <a:p>
            <a:pPr/>
            <a:r>
              <a:rPr sz="2000"/>
              <a:t>• Usable as a 2-hour instructor-led workshop and a self-learning research toolkit</a:t>
            </a:r>
          </a:p>
          <a:p>
            <a:pPr/>
            <a:r>
              <a:rPr sz="1400" i="1"/>
              <a:t>  可作為兩小時講師帶領工作坊，也可作為自學研究工具包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/>
              <a:t>Map the Unknown → Analyze the Space → Discover the Insight</a:t>
            </a:r>
          </a:p>
          <a:p>
            <a:r>
              <a:rPr sz="2000"/>
              <a:t>探索未知 → 分析空間 → 發現洞察</a:t>
            </a:r>
          </a:p>
          <a:p>
            <a:r>
              <a:rPr sz="1600" i="1"/>
              <a:t>"I can start with a spatial question, find data, analyze it, and communicate what I discovered through a well-designed research map."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